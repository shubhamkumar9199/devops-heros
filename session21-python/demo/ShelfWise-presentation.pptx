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ba8d9a1-bd0d-b81f-e53f-094ee1341101}">
          <p14:sldIdLst>
            <p14:sldId id="256"/>
            <p14:sldId id="257"/>
            <p14:sldId id="258"/>
          </p14:sldIdLst>
        </p14:section>
        <p14:section name="Build" id="{11bdc15b-bd01-45d5-e802-1a91d7741e43}">
          <p14:sldIdLst>
            <p14:sldId id="259"/>
            <p14:sldId id="260"/>
            <p14:sldId id="261"/>
          </p14:sldIdLst>
        </p14:section>
        <p14:section name="Deliver" id="{1b21dcb4-04d6-3efc-1688-f22c694e7c10}">
          <p14:sldIdLst>
            <p14:sldId id="262"/>
            <p14:sldId id="263"/>
          </p14:sldIdLst>
        </p14:section>
        <p14:section name="Run" id="{8d6fc75b-ae1a-aa90-04da-75808ce4c31c}">
          <p14:sldIdLst>
            <p14:sldId id="264"/>
            <p14:sldId id="265"/>
            <p14:sldId id="266"/>
            <p14:sldId id="267"/>
          </p14:sldIdLst>
        </p14:section>
        <p14:section name="Wrap-up" id="{78f57383-5690-cfd2-cc7a-57b0ae5d8d44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2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27"/>
                </a:solidFill>
                <a:latin typeface="+mn-lt"/>
              </a:rPr>
              <a:t>Backend pods during a 4-minute load test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Backend replicas</c:v>
                </c:pt>
              </c:strCache>
            </c:strRef>
          </c:tx>
          <c:spPr>
            <a:solidFill>
              <a:srgbClr val="0F7680"/>
            </a:solidFill>
            <a:ln w="38100" cap="flat">
              <a:solidFill>
                <a:srgbClr val="0F76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F7680"/>
              </a:solidFill>
              <a:ln w="9525" cap="flat">
                <a:solidFill>
                  <a:srgbClr val="0F76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0</c:v>
                  </c:pt>
                  <c:pt idx="1">
                    <c:v>15</c:v>
                  </c:pt>
                  <c:pt idx="2">
                    <c:v>30</c:v>
                  </c:pt>
                  <c:pt idx="3">
                    <c:v>45</c:v>
                  </c:pt>
                  <c:pt idx="4">
                    <c:v>60</c:v>
                  </c:pt>
                  <c:pt idx="5">
                    <c:v>75</c:v>
                  </c:pt>
                  <c:pt idx="6">
                    <c:v>90</c:v>
                  </c:pt>
                  <c:pt idx="7">
                    <c:v>105</c:v>
                  </c:pt>
                  <c:pt idx="8">
                    <c:v>120</c:v>
                  </c:pt>
                  <c:pt idx="9">
                    <c:v>135</c:v>
                  </c:pt>
                  <c:pt idx="10">
                    <c:v>150</c:v>
                  </c:pt>
                  <c:pt idx="11">
                    <c:v>165</c:v>
                  </c:pt>
                  <c:pt idx="12">
                    <c:v>180</c:v>
                  </c:pt>
                  <c:pt idx="13">
                    <c:v>195</c:v>
                  </c:pt>
                  <c:pt idx="14">
                    <c:v>210</c:v>
                  </c:pt>
                  <c:pt idx="15">
                    <c:v>225</c:v>
                  </c:pt>
                  <c:pt idx="16">
                    <c:v>240</c:v>
                  </c:pt>
                  <c:pt idx="17">
                    <c:v>255</c:v>
                  </c:pt>
                  <c:pt idx="18">
                    <c:v>270</c:v>
                  </c:pt>
                  <c:pt idx="19">
                    <c:v>285</c:v>
                  </c:pt>
                  <c:pt idx="20">
                    <c:v>300</c:v>
                  </c:pt>
                  <c:pt idx="21">
                    <c:v>315</c:v>
                  </c:pt>
                  <c:pt idx="22">
                    <c:v>330</c:v>
                  </c:pt>
                  <c:pt idx="23">
                    <c:v>345</c:v>
                  </c:pt>
                  <c:pt idx="24">
                    <c:v>360</c:v>
                  </c:pt>
                  <c:pt idx="25">
                    <c:v>375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</c:v>
                </c:pt>
                <c:pt idx="20">
                  <c:v>6</c:v>
                </c:pt>
                <c:pt idx="21">
                  <c:v>6</c:v>
                </c:pt>
                <c:pt idx="22">
                  <c:v>6</c:v>
                </c:pt>
                <c:pt idx="23">
                  <c:v>4</c:v>
                </c:pt>
                <c:pt idx="24">
                  <c:v>4</c:v>
                </c:pt>
                <c:pt idx="25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26F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66726F"/>
                    </a:solidFill>
                    <a:latin typeface="+mn-lt"/>
                  </a:rPr>
                  <a:t>seconds since load started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26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E6E0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2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ShelfWise is my own application domain: a lending desk for a campus library. This deck covers what it does, how it's built, and how it travels through CI/CD, Terraform, Kubernetes, GitOps and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 never touches the cluster. It pushes images and commits the new tag to Git; Argo CD notices and rolls it out. Terraform builds the AWS side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 gate fails, nothing is built or pushed. The pushed image is the exact tarball Trivy scanned, never a rebuild.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1069848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9748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ShelfWise · DevOps Heros capstone · Shubham Kumar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2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2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ShelfWise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A campus library's lending desk, carried from a laptop to a monitored Kubernetes cluster</a:t>
            </a:r>
            <a:endParaRPr lang="en-US" sz="2400" dirty="0"/>
          </a:p>
        </p:txBody>
      </p:sp>
      <p:sp>
        <p:nvSpPr>
          <p:cNvPr id="4" name="text-1"/>
          <p:cNvSpPr txBox="1"/>
          <p:nvPr/>
        </p:nvSpPr>
        <p:spPr>
          <a:xfrm>
            <a:off x="73152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D9D6"/>
                </a:solidFill>
              </a:rPr>
              <a:t>Shubham Kumar  ·  24BCS10320  ·  DevOps Heros, Session 21 final capstone  ·  October 2026</a:t>
            </a:r>
            <a:endParaRPr lang="en-US" sz="1600" dirty="0"/>
          </a:p>
        </p:txBody>
      </p:sp>
      <p:sp>
        <p:nvSpPr>
          <p:cNvPr id="5" name="chip-2"/>
          <p:cNvSpPr/>
          <p:nvPr/>
        </p:nvSpPr>
        <p:spPr>
          <a:xfrm>
            <a:off x="731520" y="4892040"/>
            <a:ext cx="1060704" cy="457200"/>
          </a:xfrm>
          <a:prstGeom prst="roundRect">
            <a:avLst>
              <a:gd name="adj" fmla="val 50000"/>
            </a:avLst>
          </a:prstGeom>
          <a:solidFill>
            <a:srgbClr val="173A3C"/>
          </a:solidFill>
          <a:ln w="12700">
            <a:solidFill>
              <a:srgbClr val="23504F"/>
            </a:solidFill>
            <a:prstDash val="solid"/>
          </a:ln>
        </p:spPr>
      </p:sp>
      <p:sp>
        <p:nvSpPr>
          <p:cNvPr id="6" name="text-3"/>
          <p:cNvSpPr txBox="1"/>
          <p:nvPr/>
        </p:nvSpPr>
        <p:spPr>
          <a:xfrm>
            <a:off x="731520" y="489204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74 tests</a:t>
            </a:r>
            <a:endParaRPr lang="en-US" sz="1400" dirty="0"/>
          </a:p>
        </p:txBody>
      </p:sp>
      <p:sp>
        <p:nvSpPr>
          <p:cNvPr id="7" name="chip-4"/>
          <p:cNvSpPr/>
          <p:nvPr/>
        </p:nvSpPr>
        <p:spPr>
          <a:xfrm>
            <a:off x="1956816" y="4892040"/>
            <a:ext cx="1252728" cy="457200"/>
          </a:xfrm>
          <a:prstGeom prst="roundRect">
            <a:avLst>
              <a:gd name="adj" fmla="val 50000"/>
            </a:avLst>
          </a:prstGeom>
          <a:solidFill>
            <a:srgbClr val="173A3C"/>
          </a:solidFill>
          <a:ln w="12700">
            <a:solidFill>
              <a:srgbClr val="23504F"/>
            </a:solidFill>
            <a:prstDash val="solid"/>
          </a:ln>
        </p:spPr>
      </p:sp>
      <p:sp>
        <p:nvSpPr>
          <p:cNvPr id="8" name="text-5"/>
          <p:cNvSpPr txBox="1"/>
          <p:nvPr/>
        </p:nvSpPr>
        <p:spPr>
          <a:xfrm>
            <a:off x="1956816" y="489204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10 CI jobs</a:t>
            </a:r>
            <a:endParaRPr lang="en-US" sz="1400" dirty="0"/>
          </a:p>
        </p:txBody>
      </p:sp>
      <p:sp>
        <p:nvSpPr>
          <p:cNvPr id="9" name="chip-6"/>
          <p:cNvSpPr/>
          <p:nvPr/>
        </p:nvSpPr>
        <p:spPr>
          <a:xfrm>
            <a:off x="3374136" y="4892040"/>
            <a:ext cx="2020824" cy="457200"/>
          </a:xfrm>
          <a:prstGeom prst="roundRect">
            <a:avLst>
              <a:gd name="adj" fmla="val 50000"/>
            </a:avLst>
          </a:prstGeom>
          <a:solidFill>
            <a:srgbClr val="173A3C"/>
          </a:solidFill>
          <a:ln w="12700">
            <a:solidFill>
              <a:srgbClr val="23504F"/>
            </a:solidFill>
            <a:prstDash val="solid"/>
          </a:ln>
        </p:spPr>
      </p:sp>
      <p:sp>
        <p:nvSpPr>
          <p:cNvPr id="10" name="text-7"/>
          <p:cNvSpPr txBox="1"/>
          <p:nvPr/>
        </p:nvSpPr>
        <p:spPr>
          <a:xfrm>
            <a:off x="3374136" y="489204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Trivy-gated images</a:t>
            </a:r>
            <a:endParaRPr lang="en-US" sz="1400" dirty="0"/>
          </a:p>
        </p:txBody>
      </p:sp>
      <p:sp>
        <p:nvSpPr>
          <p:cNvPr id="11" name="chip-8"/>
          <p:cNvSpPr/>
          <p:nvPr/>
        </p:nvSpPr>
        <p:spPr>
          <a:xfrm>
            <a:off x="5559552" y="4892040"/>
            <a:ext cx="2116836" cy="457200"/>
          </a:xfrm>
          <a:prstGeom prst="roundRect">
            <a:avLst>
              <a:gd name="adj" fmla="val 50000"/>
            </a:avLst>
          </a:prstGeom>
          <a:solidFill>
            <a:srgbClr val="173A3C"/>
          </a:solidFill>
          <a:ln w="12700">
            <a:solidFill>
              <a:srgbClr val="23504F"/>
            </a:solidFill>
            <a:prstDash val="solid"/>
          </a:ln>
        </p:spPr>
      </p:sp>
      <p:sp>
        <p:nvSpPr>
          <p:cNvPr id="12" name="text-9"/>
          <p:cNvSpPr txBox="1"/>
          <p:nvPr/>
        </p:nvSpPr>
        <p:spPr>
          <a:xfrm>
            <a:off x="5559552" y="4892040"/>
            <a:ext cx="2116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GitOps with Argo CD</a:t>
            </a:r>
            <a:endParaRPr lang="en-US" sz="1400" dirty="0"/>
          </a:p>
        </p:txBody>
      </p:sp>
      <p:sp>
        <p:nvSpPr>
          <p:cNvPr id="13" name="chip-10"/>
          <p:cNvSpPr/>
          <p:nvPr/>
        </p:nvSpPr>
        <p:spPr>
          <a:xfrm>
            <a:off x="7840980" y="4892040"/>
            <a:ext cx="1540764" cy="457200"/>
          </a:xfrm>
          <a:prstGeom prst="roundRect">
            <a:avLst>
              <a:gd name="adj" fmla="val 50000"/>
            </a:avLst>
          </a:prstGeom>
          <a:solidFill>
            <a:srgbClr val="173A3C"/>
          </a:solidFill>
          <a:ln w="12700">
            <a:solidFill>
              <a:srgbClr val="23504F"/>
            </a:solidFill>
            <a:prstDash val="solid"/>
          </a:ln>
        </p:spPr>
      </p:sp>
      <p:sp>
        <p:nvSpPr>
          <p:cNvPr id="14" name="text-11"/>
          <p:cNvSpPr txBox="1"/>
          <p:nvPr/>
        </p:nvSpPr>
        <p:spPr>
          <a:xfrm>
            <a:off x="7840980" y="4892040"/>
            <a:ext cx="1540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AWS VPC + EKS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ShelfWise does</a:t>
            </a:r>
            <a:endParaRPr lang="en-US" sz="3400" dirty="0"/>
          </a:p>
        </p:txBody>
      </p:sp>
      <p:sp>
        <p:nvSpPr>
          <p:cNvPr id="3" name="text-12"/>
          <p:cNvSpPr txBox="1"/>
          <p:nvPr/>
        </p:nvSpPr>
        <p:spPr>
          <a:xfrm>
            <a:off x="548640" y="141732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Librarians catalogue books and their physical copies, register students and faculty, lend and take back copies, and run the holds queue for popular titles.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Every refusal is a rule, not a crash: the API answers 409 with a sentence the desk can read out, and the rules are published at /api/info so the UI never hardcodes them.</a:t>
            </a:r>
            <a:endParaRPr lang="en-US" sz="1700" dirty="0"/>
          </a:p>
        </p:txBody>
      </p:sp>
      <p:pic>
        <p:nvPicPr>
          <p:cNvPr id="4" name="shot-13" descr="/tmp/shelfwise-shots/desktop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160520"/>
            <a:ext cx="4206240" cy="2103120"/>
          </a:xfrm>
          <a:prstGeom prst="rect">
            <a:avLst/>
          </a:prstGeom>
        </p:spPr>
      </p:pic>
      <p:sp>
        <p:nvSpPr>
          <p:cNvPr id="5" name="card-14"/>
          <p:cNvSpPr/>
          <p:nvPr/>
        </p:nvSpPr>
        <p:spPr>
          <a:xfrm>
            <a:off x="5120640" y="1417320"/>
            <a:ext cx="3127248" cy="2212848"/>
          </a:xfrm>
          <a:prstGeom prst="roundRect">
            <a:avLst>
              <a:gd name="adj" fmla="val 4959"/>
            </a:avLst>
          </a:prstGeom>
          <a:solidFill>
            <a:schemeClr val="bg2"/>
          </a:solidFill>
          <a:ln/>
        </p:spPr>
      </p:sp>
      <p:sp>
        <p:nvSpPr>
          <p:cNvPr id="6" name="icon-bg-15"/>
          <p:cNvSpPr/>
          <p:nvPr/>
        </p:nvSpPr>
        <p:spPr>
          <a:xfrm>
            <a:off x="5349240" y="164592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1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135" y="1768815"/>
            <a:ext cx="266273" cy="266273"/>
          </a:xfrm>
          <a:prstGeom prst="rect">
            <a:avLst/>
          </a:prstGeom>
        </p:spPr>
      </p:pic>
      <p:sp>
        <p:nvSpPr>
          <p:cNvPr id="8" name="text-17"/>
          <p:cNvSpPr txBox="1"/>
          <p:nvPr/>
        </p:nvSpPr>
        <p:spPr>
          <a:xfrm>
            <a:off x="5349240" y="2286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 copy, one borrower</a:t>
            </a:r>
            <a:endParaRPr lang="en-US" sz="1700" dirty="0"/>
          </a:p>
        </p:txBody>
      </p:sp>
      <p:sp>
        <p:nvSpPr>
          <p:cNvPr id="9" name="text-18"/>
          <p:cNvSpPr txBox="1"/>
          <p:nvPr/>
        </p:nvSpPr>
        <p:spPr>
          <a:xfrm>
            <a:off x="5349240" y="267919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Row locks plus a partial unique index: two API replicas can never lend the same copy.</a:t>
            </a:r>
            <a:endParaRPr lang="en-US" sz="1350" dirty="0"/>
          </a:p>
        </p:txBody>
      </p:sp>
      <p:sp>
        <p:nvSpPr>
          <p:cNvPr id="10" name="card-19"/>
          <p:cNvSpPr/>
          <p:nvPr/>
        </p:nvSpPr>
        <p:spPr>
          <a:xfrm>
            <a:off x="8430768" y="1417320"/>
            <a:ext cx="3127248" cy="2212848"/>
          </a:xfrm>
          <a:prstGeom prst="roundRect">
            <a:avLst>
              <a:gd name="adj" fmla="val 4959"/>
            </a:avLst>
          </a:prstGeom>
          <a:solidFill>
            <a:schemeClr val="bg2"/>
          </a:solidFill>
          <a:ln/>
        </p:spPr>
      </p:sp>
      <p:sp>
        <p:nvSpPr>
          <p:cNvPr id="11" name="icon-bg-20"/>
          <p:cNvSpPr/>
          <p:nvPr/>
        </p:nvSpPr>
        <p:spPr>
          <a:xfrm>
            <a:off x="8659368" y="164592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2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263" y="1768815"/>
            <a:ext cx="266273" cy="266273"/>
          </a:xfrm>
          <a:prstGeom prst="rect">
            <a:avLst/>
          </a:prstGeom>
        </p:spPr>
      </p:pic>
      <p:sp>
        <p:nvSpPr>
          <p:cNvPr id="13" name="text-22"/>
          <p:cNvSpPr txBox="1"/>
          <p:nvPr/>
        </p:nvSpPr>
        <p:spPr>
          <a:xfrm>
            <a:off x="8659368" y="2286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Loan limits by member</a:t>
            </a:r>
            <a:endParaRPr lang="en-US" sz="1700" dirty="0"/>
          </a:p>
        </p:txBody>
      </p:sp>
      <p:sp>
        <p:nvSpPr>
          <p:cNvPr id="14" name="text-23"/>
          <p:cNvSpPr txBox="1"/>
          <p:nvPr/>
        </p:nvSpPr>
        <p:spPr>
          <a:xfrm>
            <a:off x="8659368" y="267919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Students 3 books for 14 days, faculty 6 for 28. Two renewals, never while someone is waiting.</a:t>
            </a:r>
            <a:endParaRPr lang="en-US" sz="1350" dirty="0"/>
          </a:p>
        </p:txBody>
      </p:sp>
      <p:sp>
        <p:nvSpPr>
          <p:cNvPr id="15" name="card-24"/>
          <p:cNvSpPr/>
          <p:nvPr/>
        </p:nvSpPr>
        <p:spPr>
          <a:xfrm>
            <a:off x="5120640" y="3813048"/>
            <a:ext cx="3127248" cy="2212848"/>
          </a:xfrm>
          <a:prstGeom prst="roundRect">
            <a:avLst>
              <a:gd name="adj" fmla="val 4959"/>
            </a:avLst>
          </a:prstGeom>
          <a:solidFill>
            <a:schemeClr val="bg2"/>
          </a:solidFill>
          <a:ln/>
        </p:spPr>
      </p:sp>
      <p:sp>
        <p:nvSpPr>
          <p:cNvPr id="16" name="icon-bg-25"/>
          <p:cNvSpPr/>
          <p:nvPr/>
        </p:nvSpPr>
        <p:spPr>
          <a:xfrm>
            <a:off x="5349240" y="404164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2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135" y="4164543"/>
            <a:ext cx="266273" cy="266273"/>
          </a:xfrm>
          <a:prstGeom prst="rect">
            <a:avLst/>
          </a:prstGeom>
        </p:spPr>
      </p:pic>
      <p:sp>
        <p:nvSpPr>
          <p:cNvPr id="18" name="text-27"/>
          <p:cNvSpPr txBox="1"/>
          <p:nvPr/>
        </p:nvSpPr>
        <p:spPr>
          <a:xfrm>
            <a:off x="5349240" y="4681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Fines that matter</a:t>
            </a:r>
            <a:endParaRPr lang="en-US" sz="1700" dirty="0"/>
          </a:p>
        </p:txBody>
      </p:sp>
      <p:sp>
        <p:nvSpPr>
          <p:cNvPr id="19" name="text-28"/>
          <p:cNvSpPr txBox="1"/>
          <p:nvPr/>
        </p:nvSpPr>
        <p:spPr>
          <a:xfrm>
            <a:off x="5349240" y="50749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₹5 per day late, capped at ₹200. ₹100 unpaid (or any overdue book) blocks new loans.</a:t>
            </a:r>
            <a:endParaRPr lang="en-US" sz="1350" dirty="0"/>
          </a:p>
        </p:txBody>
      </p:sp>
      <p:sp>
        <p:nvSpPr>
          <p:cNvPr id="20" name="card-29"/>
          <p:cNvSpPr/>
          <p:nvPr/>
        </p:nvSpPr>
        <p:spPr>
          <a:xfrm>
            <a:off x="8430768" y="3813048"/>
            <a:ext cx="3127248" cy="2212848"/>
          </a:xfrm>
          <a:prstGeom prst="roundRect">
            <a:avLst>
              <a:gd name="adj" fmla="val 4959"/>
            </a:avLst>
          </a:prstGeom>
          <a:solidFill>
            <a:schemeClr val="bg2"/>
          </a:solidFill>
          <a:ln/>
        </p:spPr>
      </p:sp>
      <p:sp>
        <p:nvSpPr>
          <p:cNvPr id="21" name="icon-bg-30"/>
          <p:cNvSpPr/>
          <p:nvPr/>
        </p:nvSpPr>
        <p:spPr>
          <a:xfrm>
            <a:off x="8659368" y="404164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3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263" y="4164543"/>
            <a:ext cx="266273" cy="266273"/>
          </a:xfrm>
          <a:prstGeom prst="rect">
            <a:avLst/>
          </a:prstGeom>
        </p:spPr>
      </p:pic>
      <p:sp>
        <p:nvSpPr>
          <p:cNvPr id="23" name="text-32"/>
          <p:cNvSpPr txBox="1"/>
          <p:nvPr/>
        </p:nvSpPr>
        <p:spPr>
          <a:xfrm>
            <a:off x="8659368" y="4681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fair holds queue</a:t>
            </a:r>
            <a:endParaRPr lang="en-US" sz="1700" dirty="0"/>
          </a:p>
        </p:txBody>
      </p:sp>
      <p:sp>
        <p:nvSpPr>
          <p:cNvPr id="24" name="text-33"/>
          <p:cNvSpPr txBox="1"/>
          <p:nvPr/>
        </p:nvSpPr>
        <p:spPr>
          <a:xfrm>
            <a:off x="8659368" y="50749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A returned copy goes to the first member waiting; they have 3 days to collect it.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2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 stack</a:t>
            </a:r>
            <a:endParaRPr lang="en-US" sz="3400" dirty="0"/>
          </a:p>
        </p:txBody>
      </p:sp>
      <p:sp>
        <p:nvSpPr>
          <p:cNvPr id="3" name="card-34"/>
          <p:cNvSpPr/>
          <p:nvPr/>
        </p:nvSpPr>
        <p:spPr>
          <a:xfrm>
            <a:off x="548640" y="1371600"/>
            <a:ext cx="35478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text-35"/>
          <p:cNvSpPr txBox="1"/>
          <p:nvPr/>
        </p:nvSpPr>
        <p:spPr>
          <a:xfrm>
            <a:off x="749808" y="153619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APPLICATION</a:t>
            </a:r>
            <a:endParaRPr lang="en-US" sz="1100" dirty="0"/>
          </a:p>
        </p:txBody>
      </p:sp>
      <p:sp>
        <p:nvSpPr>
          <p:cNvPr id="5" name="text-36"/>
          <p:cNvSpPr txBox="1"/>
          <p:nvPr/>
        </p:nvSpPr>
        <p:spPr>
          <a:xfrm>
            <a:off x="749808" y="18288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 19 + Vite 8 · FastAPI 0.143 · SQLAlchemy 2.1 · Alembic 1.20</a:t>
            </a:r>
            <a:endParaRPr lang="en-US" sz="1400" dirty="0"/>
          </a:p>
        </p:txBody>
      </p:sp>
      <p:sp>
        <p:nvSpPr>
          <p:cNvPr id="6" name="card-37"/>
          <p:cNvSpPr/>
          <p:nvPr/>
        </p:nvSpPr>
        <p:spPr>
          <a:xfrm>
            <a:off x="4279392" y="1371600"/>
            <a:ext cx="35478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text-38"/>
          <p:cNvSpPr txBox="1"/>
          <p:nvPr/>
        </p:nvSpPr>
        <p:spPr>
          <a:xfrm>
            <a:off x="4480560" y="153619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DATA</a:t>
            </a:r>
            <a:endParaRPr lang="en-US" sz="1100" dirty="0"/>
          </a:p>
        </p:txBody>
      </p:sp>
      <p:sp>
        <p:nvSpPr>
          <p:cNvPr id="8" name="text-39"/>
          <p:cNvSpPr txBox="1"/>
          <p:nvPr/>
        </p:nvSpPr>
        <p:spPr>
          <a:xfrm>
            <a:off x="4480560" y="18288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 17 · CHECK constraints · partial unique indexes</a:t>
            </a:r>
            <a:endParaRPr lang="en-US" sz="1400" dirty="0"/>
          </a:p>
        </p:txBody>
      </p:sp>
      <p:sp>
        <p:nvSpPr>
          <p:cNvPr id="9" name="card-40"/>
          <p:cNvSpPr/>
          <p:nvPr/>
        </p:nvSpPr>
        <p:spPr>
          <a:xfrm>
            <a:off x="8010144" y="1371600"/>
            <a:ext cx="35478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text-41"/>
          <p:cNvSpPr txBox="1"/>
          <p:nvPr/>
        </p:nvSpPr>
        <p:spPr>
          <a:xfrm>
            <a:off x="8211312" y="153619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QUALITY</a:t>
            </a:r>
            <a:endParaRPr lang="en-US" sz="1100" dirty="0"/>
          </a:p>
        </p:txBody>
      </p:sp>
      <p:sp>
        <p:nvSpPr>
          <p:cNvPr id="11" name="text-42"/>
          <p:cNvSpPr txBox="1"/>
          <p:nvPr/>
        </p:nvSpPr>
        <p:spPr>
          <a:xfrm>
            <a:off x="8211312" y="18288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pytest 9 · ruff · 60-day simulation · multi-process races</a:t>
            </a:r>
            <a:endParaRPr lang="en-US" sz="1400" dirty="0"/>
          </a:p>
        </p:txBody>
      </p:sp>
      <p:sp>
        <p:nvSpPr>
          <p:cNvPr id="12" name="card-43"/>
          <p:cNvSpPr/>
          <p:nvPr/>
        </p:nvSpPr>
        <p:spPr>
          <a:xfrm>
            <a:off x="548640" y="2999232"/>
            <a:ext cx="35478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3" name="text-44"/>
          <p:cNvSpPr txBox="1"/>
          <p:nvPr/>
        </p:nvSpPr>
        <p:spPr>
          <a:xfrm>
            <a:off x="749808" y="316382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CONTAINERS</a:t>
            </a:r>
            <a:endParaRPr lang="en-US" sz="1100" dirty="0"/>
          </a:p>
        </p:txBody>
      </p:sp>
      <p:sp>
        <p:nvSpPr>
          <p:cNvPr id="14" name="text-45"/>
          <p:cNvSpPr txBox="1"/>
          <p:nvPr/>
        </p:nvSpPr>
        <p:spPr>
          <a:xfrm>
            <a:off x="749808" y="3456432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Multi-stage Docker · nginx-unprivileged · compose</a:t>
            </a:r>
            <a:endParaRPr lang="en-US" sz="1400" dirty="0"/>
          </a:p>
        </p:txBody>
      </p:sp>
      <p:sp>
        <p:nvSpPr>
          <p:cNvPr id="15" name="card-46"/>
          <p:cNvSpPr/>
          <p:nvPr/>
        </p:nvSpPr>
        <p:spPr>
          <a:xfrm>
            <a:off x="4279392" y="2999232"/>
            <a:ext cx="35478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6" name="text-47"/>
          <p:cNvSpPr txBox="1"/>
          <p:nvPr/>
        </p:nvSpPr>
        <p:spPr>
          <a:xfrm>
            <a:off x="4480560" y="316382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CI/CD</a:t>
            </a:r>
            <a:endParaRPr lang="en-US" sz="1100" dirty="0"/>
          </a:p>
        </p:txBody>
      </p:sp>
      <p:sp>
        <p:nvSpPr>
          <p:cNvPr id="17" name="text-48"/>
          <p:cNvSpPr txBox="1"/>
          <p:nvPr/>
        </p:nvSpPr>
        <p:spPr>
          <a:xfrm>
            <a:off x="4480560" y="3456432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GitHub Actions (10 jobs) · GHCR · SHA-tagged images</a:t>
            </a:r>
            <a:endParaRPr lang="en-US" sz="1400" dirty="0"/>
          </a:p>
        </p:txBody>
      </p:sp>
      <p:sp>
        <p:nvSpPr>
          <p:cNvPr id="18" name="card-49"/>
          <p:cNvSpPr/>
          <p:nvPr/>
        </p:nvSpPr>
        <p:spPr>
          <a:xfrm>
            <a:off x="8010144" y="2999232"/>
            <a:ext cx="35478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9" name="text-50"/>
          <p:cNvSpPr txBox="1"/>
          <p:nvPr/>
        </p:nvSpPr>
        <p:spPr>
          <a:xfrm>
            <a:off x="8211312" y="316382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SECURITY</a:t>
            </a:r>
            <a:endParaRPr lang="en-US" sz="1100" dirty="0"/>
          </a:p>
        </p:txBody>
      </p:sp>
      <p:sp>
        <p:nvSpPr>
          <p:cNvPr id="20" name="text-51"/>
          <p:cNvSpPr txBox="1"/>
          <p:nvPr/>
        </p:nvSpPr>
        <p:spPr>
          <a:xfrm>
            <a:off x="8211312" y="3456432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Trivy 0.76 · Gitleaks 8.30 · Bandit · pip-audit · npm audit</a:t>
            </a:r>
            <a:endParaRPr lang="en-US" sz="1400" dirty="0"/>
          </a:p>
        </p:txBody>
      </p:sp>
      <p:sp>
        <p:nvSpPr>
          <p:cNvPr id="21" name="card-52"/>
          <p:cNvSpPr/>
          <p:nvPr/>
        </p:nvSpPr>
        <p:spPr>
          <a:xfrm>
            <a:off x="548640" y="4626864"/>
            <a:ext cx="35478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2" name="text-53"/>
          <p:cNvSpPr txBox="1"/>
          <p:nvPr/>
        </p:nvSpPr>
        <p:spPr>
          <a:xfrm>
            <a:off x="749808" y="479145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INFRASTRUCTURE</a:t>
            </a:r>
            <a:endParaRPr lang="en-US" sz="1100" dirty="0"/>
          </a:p>
        </p:txBody>
      </p:sp>
      <p:sp>
        <p:nvSpPr>
          <p:cNvPr id="23" name="text-54"/>
          <p:cNvSpPr txBox="1"/>
          <p:nvPr/>
        </p:nvSpPr>
        <p:spPr>
          <a:xfrm>
            <a:off x="749808" y="5084064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Terraform 1.15 · AWS provider 6.69 · VPC + EKS 1.35</a:t>
            </a:r>
            <a:endParaRPr lang="en-US" sz="1400" dirty="0"/>
          </a:p>
        </p:txBody>
      </p:sp>
      <p:sp>
        <p:nvSpPr>
          <p:cNvPr id="24" name="card-55"/>
          <p:cNvSpPr/>
          <p:nvPr/>
        </p:nvSpPr>
        <p:spPr>
          <a:xfrm>
            <a:off x="4279392" y="4626864"/>
            <a:ext cx="35478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5" name="text-56"/>
          <p:cNvSpPr txBox="1"/>
          <p:nvPr/>
        </p:nvSpPr>
        <p:spPr>
          <a:xfrm>
            <a:off x="4480560" y="479145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KUBERNETES</a:t>
            </a:r>
            <a:endParaRPr lang="en-US" sz="1100" dirty="0"/>
          </a:p>
        </p:txBody>
      </p:sp>
      <p:sp>
        <p:nvSpPr>
          <p:cNvPr id="26" name="text-57"/>
          <p:cNvSpPr txBox="1"/>
          <p:nvPr/>
        </p:nvSpPr>
        <p:spPr>
          <a:xfrm>
            <a:off x="4480560" y="5084064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kind 1.37 · Helm 4 · Traefik 3.7 · HPA · PDB · NetworkPolicy</a:t>
            </a:r>
            <a:endParaRPr lang="en-US" sz="1400" dirty="0"/>
          </a:p>
        </p:txBody>
      </p:sp>
      <p:sp>
        <p:nvSpPr>
          <p:cNvPr id="27" name="card-58"/>
          <p:cNvSpPr/>
          <p:nvPr/>
        </p:nvSpPr>
        <p:spPr>
          <a:xfrm>
            <a:off x="8010144" y="4626864"/>
            <a:ext cx="35478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8" name="text-59"/>
          <p:cNvSpPr txBox="1"/>
          <p:nvPr/>
        </p:nvSpPr>
        <p:spPr>
          <a:xfrm>
            <a:off x="8211312" y="479145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GITOPS + OBSERVABILITY</a:t>
            </a:r>
            <a:endParaRPr lang="en-US" sz="1100" dirty="0"/>
          </a:p>
        </p:txBody>
      </p:sp>
      <p:sp>
        <p:nvSpPr>
          <p:cNvPr id="29" name="text-60"/>
          <p:cNvSpPr txBox="1"/>
          <p:nvPr/>
        </p:nvSpPr>
        <p:spPr>
          <a:xfrm>
            <a:off x="8211312" y="5084064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Argo CD 3.5 · Prometheus · Grafana · Alertmanager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2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Architecture: from git push to a monitored cluster</a:t>
            </a:r>
            <a:endParaRPr lang="en-US" sz="3400" dirty="0"/>
          </a:p>
        </p:txBody>
      </p:sp>
      <p:sp>
        <p:nvSpPr>
          <p:cNvPr id="3" name="card-61"/>
          <p:cNvSpPr/>
          <p:nvPr/>
        </p:nvSpPr>
        <p:spPr>
          <a:xfrm>
            <a:off x="548640" y="1417320"/>
            <a:ext cx="13716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" name="text-62"/>
          <p:cNvSpPr txBox="1"/>
          <p:nvPr/>
        </p:nvSpPr>
        <p:spPr>
          <a:xfrm>
            <a:off x="658368" y="141732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 push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main</a:t>
            </a:r>
            <a:endParaRPr lang="en-US" sz="1400" dirty="0"/>
          </a:p>
        </p:txBody>
      </p:sp>
      <p:sp>
        <p:nvSpPr>
          <p:cNvPr id="5" name="card-63"/>
          <p:cNvSpPr/>
          <p:nvPr/>
        </p:nvSpPr>
        <p:spPr>
          <a:xfrm>
            <a:off x="2286000" y="1417320"/>
            <a:ext cx="22860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" name="text-64"/>
          <p:cNvSpPr txBox="1"/>
          <p:nvPr/>
        </p:nvSpPr>
        <p:spPr>
          <a:xfrm>
            <a:off x="2395728" y="14173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 Actions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10 jobs: test · scan · build</a:t>
            </a:r>
            <a:endParaRPr lang="en-US" sz="1400" dirty="0"/>
          </a:p>
        </p:txBody>
      </p:sp>
      <p:sp>
        <p:nvSpPr>
          <p:cNvPr id="7" name="card-65"/>
          <p:cNvSpPr/>
          <p:nvPr/>
        </p:nvSpPr>
        <p:spPr>
          <a:xfrm>
            <a:off x="4937760" y="1417320"/>
            <a:ext cx="210312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8" name="text-66"/>
          <p:cNvSpPr txBox="1"/>
          <p:nvPr/>
        </p:nvSpPr>
        <p:spPr>
          <a:xfrm>
            <a:off x="5047488" y="14173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GHCR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backend + frontend :&lt;sha&gt;</a:t>
            </a:r>
            <a:endParaRPr lang="en-US" sz="1400" dirty="0"/>
          </a:p>
        </p:txBody>
      </p:sp>
      <p:sp>
        <p:nvSpPr>
          <p:cNvPr id="9" name="card-67"/>
          <p:cNvSpPr/>
          <p:nvPr/>
        </p:nvSpPr>
        <p:spPr>
          <a:xfrm>
            <a:off x="7406640" y="1417320"/>
            <a:ext cx="22860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0" name="text-68"/>
          <p:cNvSpPr txBox="1"/>
          <p:nvPr/>
        </p:nvSpPr>
        <p:spPr>
          <a:xfrm>
            <a:off x="7516368" y="14173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Promote commit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gitops/values-gitops.yaml</a:t>
            </a:r>
            <a:endParaRPr lang="en-US" sz="1400" dirty="0"/>
          </a:p>
        </p:txBody>
      </p:sp>
      <p:sp>
        <p:nvSpPr>
          <p:cNvPr id="11" name="card-69"/>
          <p:cNvSpPr/>
          <p:nvPr/>
        </p:nvSpPr>
        <p:spPr>
          <a:xfrm>
            <a:off x="10058400" y="1417320"/>
            <a:ext cx="160020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2" name="text-70"/>
          <p:cNvSpPr txBox="1"/>
          <p:nvPr/>
        </p:nvSpPr>
        <p:spPr>
          <a:xfrm>
            <a:off x="10168128" y="141732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Argo CD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1F0EF"/>
                </a:solidFill>
              </a:rPr>
              <a:t>syncs every change</a:t>
            </a:r>
            <a:endParaRPr lang="en-US" sz="1400" dirty="0"/>
          </a:p>
        </p:txBody>
      </p:sp>
      <p:sp>
        <p:nvSpPr>
          <p:cNvPr id="13" name="arrow-71"/>
          <p:cNvSpPr/>
          <p:nvPr/>
        </p:nvSpPr>
        <p:spPr>
          <a:xfrm>
            <a:off x="1920240" y="1828800"/>
            <a:ext cx="365760" cy="914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14" name="arrow-72"/>
          <p:cNvSpPr/>
          <p:nvPr/>
        </p:nvSpPr>
        <p:spPr>
          <a:xfrm>
            <a:off x="4572000" y="1828800"/>
            <a:ext cx="365760" cy="914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15" name="arrow-73"/>
          <p:cNvSpPr/>
          <p:nvPr/>
        </p:nvSpPr>
        <p:spPr>
          <a:xfrm>
            <a:off x="7040880" y="1828800"/>
            <a:ext cx="365760" cy="914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16" name="arrow-74"/>
          <p:cNvSpPr/>
          <p:nvPr/>
        </p:nvSpPr>
        <p:spPr>
          <a:xfrm>
            <a:off x="9692640" y="1828800"/>
            <a:ext cx="365760" cy="914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17" name="card-75"/>
          <p:cNvSpPr/>
          <p:nvPr/>
        </p:nvSpPr>
        <p:spPr>
          <a:xfrm>
            <a:off x="548640" y="2606040"/>
            <a:ext cx="8321040" cy="3611880"/>
          </a:xfrm>
          <a:prstGeom prst="roundRect">
            <a:avLst>
              <a:gd name="adj" fmla="val 3038"/>
            </a:avLst>
          </a:prstGeom>
          <a:solidFill>
            <a:schemeClr val="bg1"/>
          </a:solidFill>
          <a:ln w="12700">
            <a:solidFill>
              <a:srgbClr val="B9DCD9"/>
            </a:solidFill>
            <a:prstDash val="solid"/>
          </a:ln>
        </p:spPr>
      </p:sp>
      <p:sp>
        <p:nvSpPr>
          <p:cNvPr id="18" name="text-76"/>
          <p:cNvSpPr txBox="1"/>
          <p:nvPr/>
        </p:nvSpPr>
        <p:spPr>
          <a:xfrm>
            <a:off x="777240" y="272491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kind cluster (Kubernetes 1.37) · namespace shelfwise · Pod Security restricted</a:t>
            </a:r>
            <a:endParaRPr lang="en-US" sz="1200" dirty="0"/>
          </a:p>
        </p:txBody>
      </p:sp>
      <p:sp>
        <p:nvSpPr>
          <p:cNvPr id="19" name="card-77"/>
          <p:cNvSpPr/>
          <p:nvPr/>
        </p:nvSpPr>
        <p:spPr>
          <a:xfrm>
            <a:off x="777240" y="3246120"/>
            <a:ext cx="14630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rgbClr val="D6CDBD"/>
            </a:solidFill>
            <a:prstDash val="solid"/>
          </a:ln>
        </p:spPr>
      </p:sp>
      <p:sp>
        <p:nvSpPr>
          <p:cNvPr id="20" name="text-78"/>
          <p:cNvSpPr txBox="1"/>
          <p:nvPr/>
        </p:nvSpPr>
        <p:spPr>
          <a:xfrm>
            <a:off x="886968" y="324612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Browser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shelfwise.local</a:t>
            </a:r>
            <a:endParaRPr lang="en-US" sz="1400" dirty="0"/>
          </a:p>
        </p:txBody>
      </p:sp>
      <p:sp>
        <p:nvSpPr>
          <p:cNvPr id="21" name="card-79"/>
          <p:cNvSpPr/>
          <p:nvPr/>
        </p:nvSpPr>
        <p:spPr>
          <a:xfrm>
            <a:off x="2606040" y="3246120"/>
            <a:ext cx="2514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2" name="text-80"/>
          <p:cNvSpPr txBox="1"/>
          <p:nvPr/>
        </p:nvSpPr>
        <p:spPr>
          <a:xfrm>
            <a:off x="2715768" y="3246120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Traefik Ingress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/  →  UI   ·   /api  →  API</a:t>
            </a:r>
            <a:endParaRPr lang="en-US" sz="1400" dirty="0"/>
          </a:p>
        </p:txBody>
      </p:sp>
      <p:sp>
        <p:nvSpPr>
          <p:cNvPr id="23" name="card-81"/>
          <p:cNvSpPr/>
          <p:nvPr/>
        </p:nvSpPr>
        <p:spPr>
          <a:xfrm>
            <a:off x="5486400" y="3246120"/>
            <a:ext cx="315468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4" name="text-82"/>
          <p:cNvSpPr txBox="1"/>
          <p:nvPr/>
        </p:nvSpPr>
        <p:spPr>
          <a:xfrm>
            <a:off x="5596128" y="324612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Frontend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React on nginx · 2 pods</a:t>
            </a:r>
            <a:endParaRPr lang="en-US" sz="1400" dirty="0"/>
          </a:p>
        </p:txBody>
      </p:sp>
      <p:sp>
        <p:nvSpPr>
          <p:cNvPr id="25" name="card-83"/>
          <p:cNvSpPr/>
          <p:nvPr/>
        </p:nvSpPr>
        <p:spPr>
          <a:xfrm>
            <a:off x="2606040" y="4434840"/>
            <a:ext cx="2514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6" name="text-84"/>
          <p:cNvSpPr txBox="1"/>
          <p:nvPr/>
        </p:nvSpPr>
        <p:spPr>
          <a:xfrm>
            <a:off x="2715768" y="4434840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Backend API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FastAPI · HPA 2–6 pods</a:t>
            </a:r>
            <a:endParaRPr lang="en-US" sz="1400" dirty="0"/>
          </a:p>
        </p:txBody>
      </p:sp>
      <p:sp>
        <p:nvSpPr>
          <p:cNvPr id="27" name="card-85"/>
          <p:cNvSpPr/>
          <p:nvPr/>
        </p:nvSpPr>
        <p:spPr>
          <a:xfrm>
            <a:off x="5486400" y="4434840"/>
            <a:ext cx="315468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8" name="text-86"/>
          <p:cNvSpPr txBox="1"/>
          <p:nvPr/>
        </p:nvSpPr>
        <p:spPr>
          <a:xfrm>
            <a:off x="5596128" y="443484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StatefulSet + PVC</a:t>
            </a:r>
            <a:endParaRPr lang="en-US" sz="1400" dirty="0"/>
          </a:p>
        </p:txBody>
      </p:sp>
      <p:sp>
        <p:nvSpPr>
          <p:cNvPr id="29" name="card-87"/>
          <p:cNvSpPr/>
          <p:nvPr/>
        </p:nvSpPr>
        <p:spPr>
          <a:xfrm>
            <a:off x="777240" y="4434840"/>
            <a:ext cx="14630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0" name="text-88"/>
          <p:cNvSpPr txBox="1"/>
          <p:nvPr/>
        </p:nvSpPr>
        <p:spPr>
          <a:xfrm>
            <a:off x="886968" y="443484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Hold-expiry CronJob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→ PostgreSQL, every 30 min</a:t>
            </a:r>
            <a:endParaRPr lang="en-US" sz="1400" dirty="0"/>
          </a:p>
        </p:txBody>
      </p:sp>
      <p:sp>
        <p:nvSpPr>
          <p:cNvPr id="31" name="arrow-89"/>
          <p:cNvSpPr/>
          <p:nvPr/>
        </p:nvSpPr>
        <p:spPr>
          <a:xfrm>
            <a:off x="2240280" y="3630168"/>
            <a:ext cx="365760" cy="914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32" name="arrow-90"/>
          <p:cNvSpPr/>
          <p:nvPr/>
        </p:nvSpPr>
        <p:spPr>
          <a:xfrm>
            <a:off x="5120640" y="3630168"/>
            <a:ext cx="365760" cy="914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33" name="arrow-91"/>
          <p:cNvSpPr/>
          <p:nvPr/>
        </p:nvSpPr>
        <p:spPr>
          <a:xfrm>
            <a:off x="3858768" y="4023360"/>
            <a:ext cx="914" cy="411480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34" name="arrow-92"/>
          <p:cNvSpPr/>
          <p:nvPr/>
        </p:nvSpPr>
        <p:spPr>
          <a:xfrm>
            <a:off x="5120640" y="4818888"/>
            <a:ext cx="365760" cy="914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35" name="text-93"/>
          <p:cNvSpPr txBox="1"/>
          <p:nvPr/>
        </p:nvSpPr>
        <p:spPr>
          <a:xfrm>
            <a:off x="2606040" y="54406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NetworkPolicy: only the API (and the CronJob) may reach PostgreSQL</a:t>
            </a:r>
            <a:endParaRPr lang="en-US" sz="1150" dirty="0"/>
          </a:p>
        </p:txBody>
      </p:sp>
      <p:sp>
        <p:nvSpPr>
          <p:cNvPr id="36" name="text-94"/>
          <p:cNvSpPr txBox="1"/>
          <p:nvPr/>
        </p:nvSpPr>
        <p:spPr>
          <a:xfrm>
            <a:off x="2606040" y="57150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PDBs keep one pod of each tier through node drains · probes: /health, /ready</a:t>
            </a:r>
            <a:endParaRPr lang="en-US" sz="1150" dirty="0"/>
          </a:p>
        </p:txBody>
      </p:sp>
      <p:sp>
        <p:nvSpPr>
          <p:cNvPr id="37" name="card-95"/>
          <p:cNvSpPr/>
          <p:nvPr/>
        </p:nvSpPr>
        <p:spPr>
          <a:xfrm>
            <a:off x="9189720" y="260604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FCEFD6"/>
          </a:solidFill>
          <a:ln/>
        </p:spPr>
      </p:sp>
      <p:sp>
        <p:nvSpPr>
          <p:cNvPr id="38" name="text-96"/>
          <p:cNvSpPr txBox="1"/>
          <p:nvPr/>
        </p:nvSpPr>
        <p:spPr>
          <a:xfrm>
            <a:off x="9299448" y="260604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Prometheus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scrapes /metrics · 5 alert rules</a:t>
            </a:r>
            <a:endParaRPr lang="en-US" sz="1400" dirty="0"/>
          </a:p>
        </p:txBody>
      </p:sp>
      <p:sp>
        <p:nvSpPr>
          <p:cNvPr id="39" name="card-97"/>
          <p:cNvSpPr/>
          <p:nvPr/>
        </p:nvSpPr>
        <p:spPr>
          <a:xfrm>
            <a:off x="9189720" y="374904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FCEFD6"/>
          </a:solidFill>
          <a:ln/>
        </p:spPr>
      </p:sp>
      <p:sp>
        <p:nvSpPr>
          <p:cNvPr id="40" name="text-98"/>
          <p:cNvSpPr txBox="1"/>
          <p:nvPr/>
        </p:nvSpPr>
        <p:spPr>
          <a:xfrm>
            <a:off x="9299448" y="374904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Grafana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14-panel ShelfWise dashboard</a:t>
            </a:r>
            <a:endParaRPr lang="en-US" sz="1400" dirty="0"/>
          </a:p>
        </p:txBody>
      </p:sp>
      <p:sp>
        <p:nvSpPr>
          <p:cNvPr id="41" name="card-99"/>
          <p:cNvSpPr/>
          <p:nvPr/>
        </p:nvSpPr>
        <p:spPr>
          <a:xfrm>
            <a:off x="9189720" y="493776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E9EEF9"/>
          </a:solidFill>
          <a:ln/>
        </p:spPr>
      </p:sp>
      <p:sp>
        <p:nvSpPr>
          <p:cNvPr id="42" name="text-100"/>
          <p:cNvSpPr txBox="1"/>
          <p:nvPr/>
        </p:nvSpPr>
        <p:spPr>
          <a:xfrm>
            <a:off x="9299448" y="493776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Terraform → AWS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VPC (2 AZ) + EKS + nodes</a:t>
            </a:r>
            <a:endParaRPr lang="en-US" sz="1400" dirty="0"/>
          </a:p>
        </p:txBody>
      </p:sp>
      <p:sp>
        <p:nvSpPr>
          <p:cNvPr id="43" name="arrow-101"/>
          <p:cNvSpPr/>
          <p:nvPr/>
        </p:nvSpPr>
        <p:spPr>
          <a:xfrm>
            <a:off x="10424160" y="3566160"/>
            <a:ext cx="914" cy="182880"/>
          </a:xfrm>
          <a:prstGeom prst="line">
            <a:avLst/>
          </a:prstGeom>
          <a:noFill/>
          <a:ln w="19050">
            <a:solidFill>
              <a:srgbClr val="8A4F08"/>
            </a:solidFill>
            <a:prstDash val="solid"/>
            <a:tailEnd type="triangle"/>
          </a:ln>
        </p:spPr>
      </p:sp>
      <p:sp>
        <p:nvSpPr>
          <p:cNvPr id="44" name="arrow-102"/>
          <p:cNvSpPr/>
          <p:nvPr/>
        </p:nvSpPr>
        <p:spPr>
          <a:xfrm flipH="1">
            <a:off x="8869680" y="2240280"/>
            <a:ext cx="1965960" cy="685800"/>
          </a:xfrm>
          <a:prstGeom prst="line">
            <a:avLst/>
          </a:prstGeom>
          <a:noFill/>
          <a:ln w="19050">
            <a:solidFill>
              <a:srgbClr val="0F7680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2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Rules the database enforces too</a:t>
            </a:r>
            <a:endParaRPr lang="en-US" sz="3400" dirty="0"/>
          </a:p>
        </p:txBody>
      </p:sp>
      <p:sp>
        <p:nvSpPr>
          <p:cNvPr id="3" name="text-103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Loan lifecycle</a:t>
            </a:r>
            <a:endParaRPr lang="en-US" sz="1600" dirty="0"/>
          </a:p>
        </p:txBody>
      </p:sp>
      <p:sp>
        <p:nvSpPr>
          <p:cNvPr id="4" name="card-104"/>
          <p:cNvSpPr/>
          <p:nvPr/>
        </p:nvSpPr>
        <p:spPr>
          <a:xfrm>
            <a:off x="548640" y="1874520"/>
            <a:ext cx="1828800" cy="777240"/>
          </a:xfrm>
          <a:prstGeom prst="roundRect">
            <a:avLst>
              <a:gd name="adj" fmla="val 14118"/>
            </a:avLst>
          </a:prstGeom>
          <a:solidFill>
            <a:srgbClr val="E1F0EF"/>
          </a:solidFill>
          <a:ln/>
        </p:spPr>
      </p:sp>
      <p:sp>
        <p:nvSpPr>
          <p:cNvPr id="5" name="text-105"/>
          <p:cNvSpPr txBox="1"/>
          <p:nvPr/>
        </p:nvSpPr>
        <p:spPr>
          <a:xfrm>
            <a:off x="658368" y="187452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active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due in 14 / 28 days</a:t>
            </a:r>
            <a:endParaRPr lang="en-US" sz="1400" dirty="0"/>
          </a:p>
        </p:txBody>
      </p:sp>
      <p:sp>
        <p:nvSpPr>
          <p:cNvPr id="6" name="card-106"/>
          <p:cNvSpPr/>
          <p:nvPr/>
        </p:nvSpPr>
        <p:spPr>
          <a:xfrm>
            <a:off x="3200400" y="1463040"/>
            <a:ext cx="1737360" cy="685800"/>
          </a:xfrm>
          <a:prstGeom prst="roundRect">
            <a:avLst>
              <a:gd name="adj" fmla="val 16000"/>
            </a:avLst>
          </a:prstGeom>
          <a:solidFill>
            <a:srgbClr val="E3F2E9"/>
          </a:solidFill>
          <a:ln/>
        </p:spPr>
      </p:sp>
      <p:sp>
        <p:nvSpPr>
          <p:cNvPr id="7" name="text-107"/>
          <p:cNvSpPr txBox="1"/>
          <p:nvPr/>
        </p:nvSpPr>
        <p:spPr>
          <a:xfrm>
            <a:off x="3310128" y="146304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returned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fine if late</a:t>
            </a:r>
            <a:endParaRPr lang="en-US" sz="1400" dirty="0"/>
          </a:p>
        </p:txBody>
      </p:sp>
      <p:sp>
        <p:nvSpPr>
          <p:cNvPr id="8" name="card-108"/>
          <p:cNvSpPr/>
          <p:nvPr/>
        </p:nvSpPr>
        <p:spPr>
          <a:xfrm>
            <a:off x="3200400" y="2377440"/>
            <a:ext cx="1737360" cy="685800"/>
          </a:xfrm>
          <a:prstGeom prst="roundRect">
            <a:avLst>
              <a:gd name="adj" fmla="val 16000"/>
            </a:avLst>
          </a:prstGeom>
          <a:solidFill>
            <a:srgbClr val="FCE8E5"/>
          </a:solidFill>
          <a:ln/>
        </p:spPr>
      </p:sp>
      <p:sp>
        <p:nvSpPr>
          <p:cNvPr id="9" name="text-109"/>
          <p:cNvSpPr txBox="1"/>
          <p:nvPr/>
        </p:nvSpPr>
        <p:spPr>
          <a:xfrm>
            <a:off x="3310128" y="237744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lost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₹500 fee</a:t>
            </a:r>
            <a:endParaRPr lang="en-US" sz="1400" dirty="0"/>
          </a:p>
        </p:txBody>
      </p:sp>
      <p:sp>
        <p:nvSpPr>
          <p:cNvPr id="10" name="arrow-110"/>
          <p:cNvSpPr/>
          <p:nvPr/>
        </p:nvSpPr>
        <p:spPr>
          <a:xfrm flipV="1">
            <a:off x="2377440" y="1801368"/>
            <a:ext cx="822960" cy="301752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11" name="arrow-111"/>
          <p:cNvSpPr/>
          <p:nvPr/>
        </p:nvSpPr>
        <p:spPr>
          <a:xfrm>
            <a:off x="2377440" y="2423160"/>
            <a:ext cx="822960" cy="292608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12" name="text-112"/>
          <p:cNvSpPr txBox="1"/>
          <p:nvPr/>
        </p:nvSpPr>
        <p:spPr>
          <a:xfrm>
            <a:off x="548640" y="2724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renew ×2 (not overdue, nobody waiting)</a:t>
            </a:r>
            <a:endParaRPr lang="en-US" sz="1150" dirty="0"/>
          </a:p>
        </p:txBody>
      </p:sp>
      <p:sp>
        <p:nvSpPr>
          <p:cNvPr id="13" name="text-113"/>
          <p:cNvSpPr txBox="1"/>
          <p:nvPr/>
        </p:nvSpPr>
        <p:spPr>
          <a:xfrm>
            <a:off x="54864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Any move out of returned or lost → 409 loan_closed</a:t>
            </a:r>
            <a:endParaRPr lang="en-US" sz="1250" dirty="0"/>
          </a:p>
        </p:txBody>
      </p:sp>
      <p:sp>
        <p:nvSpPr>
          <p:cNvPr id="14" name="text-114"/>
          <p:cNvSpPr txBox="1"/>
          <p:nvPr/>
        </p:nvSpPr>
        <p:spPr>
          <a:xfrm>
            <a:off x="54864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Hold lifecycle</a:t>
            </a:r>
            <a:endParaRPr lang="en-US" sz="1600" dirty="0"/>
          </a:p>
        </p:txBody>
      </p:sp>
      <p:sp>
        <p:nvSpPr>
          <p:cNvPr id="15" name="card-115"/>
          <p:cNvSpPr/>
          <p:nvPr/>
        </p:nvSpPr>
        <p:spPr>
          <a:xfrm>
            <a:off x="548640" y="416052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E9EEF9"/>
          </a:solidFill>
          <a:ln/>
        </p:spPr>
      </p:sp>
      <p:sp>
        <p:nvSpPr>
          <p:cNvPr id="16" name="text-116"/>
          <p:cNvSpPr txBox="1"/>
          <p:nvPr/>
        </p:nvSpPr>
        <p:spPr>
          <a:xfrm>
            <a:off x="658368" y="4160520"/>
            <a:ext cx="119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waiting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queue position</a:t>
            </a:r>
            <a:endParaRPr lang="en-US" sz="1400" dirty="0"/>
          </a:p>
        </p:txBody>
      </p:sp>
      <p:sp>
        <p:nvSpPr>
          <p:cNvPr id="17" name="card-117"/>
          <p:cNvSpPr/>
          <p:nvPr/>
        </p:nvSpPr>
        <p:spPr>
          <a:xfrm>
            <a:off x="2286000" y="416052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FCEFD6"/>
          </a:solidFill>
          <a:ln/>
        </p:spPr>
      </p:sp>
      <p:sp>
        <p:nvSpPr>
          <p:cNvPr id="18" name="text-118"/>
          <p:cNvSpPr txBox="1"/>
          <p:nvPr/>
        </p:nvSpPr>
        <p:spPr>
          <a:xfrm>
            <a:off x="2395728" y="4160520"/>
            <a:ext cx="119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days to collect</a:t>
            </a:r>
            <a:endParaRPr lang="en-US" sz="1400" dirty="0"/>
          </a:p>
        </p:txBody>
      </p:sp>
      <p:sp>
        <p:nvSpPr>
          <p:cNvPr id="19" name="card-119"/>
          <p:cNvSpPr/>
          <p:nvPr/>
        </p:nvSpPr>
        <p:spPr>
          <a:xfrm>
            <a:off x="4023360" y="3794760"/>
            <a:ext cx="1234440" cy="594360"/>
          </a:xfrm>
          <a:prstGeom prst="roundRect">
            <a:avLst>
              <a:gd name="adj" fmla="val 18462"/>
            </a:avLst>
          </a:prstGeom>
          <a:solidFill>
            <a:srgbClr val="E3F2E9"/>
          </a:solidFill>
          <a:ln/>
        </p:spPr>
      </p:sp>
      <p:sp>
        <p:nvSpPr>
          <p:cNvPr id="20" name="text-120"/>
          <p:cNvSpPr txBox="1"/>
          <p:nvPr/>
        </p:nvSpPr>
        <p:spPr>
          <a:xfrm>
            <a:off x="4133088" y="3794760"/>
            <a:ext cx="1014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fulfilled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borrowed</a:t>
            </a:r>
            <a:endParaRPr lang="en-US" sz="1400" dirty="0"/>
          </a:p>
        </p:txBody>
      </p:sp>
      <p:sp>
        <p:nvSpPr>
          <p:cNvPr id="21" name="card-121"/>
          <p:cNvSpPr/>
          <p:nvPr/>
        </p:nvSpPr>
        <p:spPr>
          <a:xfrm>
            <a:off x="4023360" y="4526280"/>
            <a:ext cx="1234440" cy="594360"/>
          </a:xfrm>
          <a:prstGeom prst="roundRect">
            <a:avLst>
              <a:gd name="adj" fmla="val 18462"/>
            </a:avLst>
          </a:prstGeom>
          <a:solidFill>
            <a:srgbClr val="EFEFEC"/>
          </a:solidFill>
          <a:ln/>
        </p:spPr>
      </p:sp>
      <p:sp>
        <p:nvSpPr>
          <p:cNvPr id="22" name="text-122"/>
          <p:cNvSpPr txBox="1"/>
          <p:nvPr/>
        </p:nvSpPr>
        <p:spPr>
          <a:xfrm>
            <a:off x="4133088" y="4526280"/>
            <a:ext cx="1014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expired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next in line</a:t>
            </a:r>
            <a:endParaRPr lang="en-US" sz="1400" dirty="0"/>
          </a:p>
        </p:txBody>
      </p:sp>
      <p:sp>
        <p:nvSpPr>
          <p:cNvPr id="23" name="arrow-123"/>
          <p:cNvSpPr/>
          <p:nvPr/>
        </p:nvSpPr>
        <p:spPr>
          <a:xfrm>
            <a:off x="1965960" y="4526280"/>
            <a:ext cx="320040" cy="914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24" name="arrow-124"/>
          <p:cNvSpPr/>
          <p:nvPr/>
        </p:nvSpPr>
        <p:spPr>
          <a:xfrm flipV="1">
            <a:off x="3703320" y="4114800"/>
            <a:ext cx="320040" cy="274320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25" name="arrow-125"/>
          <p:cNvSpPr/>
          <p:nvPr/>
        </p:nvSpPr>
        <p:spPr>
          <a:xfrm>
            <a:off x="3703320" y="4663440"/>
            <a:ext cx="320040" cy="137160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26" name="text-126"/>
          <p:cNvSpPr txBox="1"/>
          <p:nvPr/>
        </p:nvSpPr>
        <p:spPr>
          <a:xfrm>
            <a:off x="548640" y="5257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copy returned → first waiting member · cancel at any open stage</a:t>
            </a:r>
            <a:endParaRPr lang="en-US" sz="1150" dirty="0"/>
          </a:p>
        </p:txBody>
      </p:sp>
      <p:sp>
        <p:nvSpPr>
          <p:cNvPr id="27" name="card-127"/>
          <p:cNvSpPr/>
          <p:nvPr/>
        </p:nvSpPr>
        <p:spPr>
          <a:xfrm>
            <a:off x="5806440" y="1371600"/>
            <a:ext cx="5806440" cy="4846320"/>
          </a:xfrm>
          <a:prstGeom prst="roundRect">
            <a:avLst>
              <a:gd name="adj" fmla="val 2264"/>
            </a:avLst>
          </a:prstGeom>
          <a:solidFill>
            <a:schemeClr val="tx2"/>
          </a:solidFill>
          <a:ln/>
        </p:spPr>
      </p:sp>
      <p:sp>
        <p:nvSpPr>
          <p:cNvPr id="28" name="text-128"/>
          <p:cNvSpPr txBox="1"/>
          <p:nvPr/>
        </p:nvSpPr>
        <p:spPr>
          <a:xfrm>
            <a:off x="612648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bug slipped past the API, PostgreSQL still says no</a:t>
            </a:r>
            <a:endParaRPr lang="en-US" sz="1800" dirty="0"/>
          </a:p>
        </p:txBody>
      </p:sp>
      <p:sp>
        <p:nvSpPr>
          <p:cNvPr id="29" name="text-129"/>
          <p:cNvSpPr txBox="1"/>
          <p:nvPr/>
        </p:nvSpPr>
        <p:spPr>
          <a:xfrm>
            <a:off x="6126480" y="24231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7B04B"/>
                </a:solidFill>
              </a:rPr>
              <a:t>Partial unique index</a:t>
            </a:r>
            <a:endParaRPr lang="en-US" sz="1500" dirty="0"/>
          </a:p>
        </p:txBody>
      </p:sp>
      <p:sp>
        <p:nvSpPr>
          <p:cNvPr id="30" name="text-130"/>
          <p:cNvSpPr txBox="1"/>
          <p:nvPr/>
        </p:nvSpPr>
        <p:spPr>
          <a:xfrm>
            <a:off x="6126480" y="272491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D9D6"/>
                </a:solidFill>
              </a:rPr>
              <a:t>one active loan per copy; one open hold per member and book; one ready hold per copy</a:t>
            </a:r>
            <a:endParaRPr lang="en-US" sz="1300" dirty="0"/>
          </a:p>
        </p:txBody>
      </p:sp>
      <p:sp>
        <p:nvSpPr>
          <p:cNvPr id="31" name="text-131"/>
          <p:cNvSpPr txBox="1"/>
          <p:nvPr/>
        </p:nvSpPr>
        <p:spPr>
          <a:xfrm>
            <a:off x="6126480" y="335584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7B04B"/>
                </a:solidFill>
              </a:rPr>
              <a:t>CHECK constraints</a:t>
            </a:r>
            <a:endParaRPr lang="en-US" sz="1500" dirty="0"/>
          </a:p>
        </p:txBody>
      </p:sp>
      <p:sp>
        <p:nvSpPr>
          <p:cNvPr id="32" name="text-132"/>
          <p:cNvSpPr txBox="1"/>
          <p:nvPr/>
        </p:nvSpPr>
        <p:spPr>
          <a:xfrm>
            <a:off x="6126480" y="36576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D9D6"/>
                </a:solidFill>
              </a:rPr>
              <a:t>renewals 0–2, due after borrowed, fines ≥ 0, closed_at set exactly when closed, valid status values</a:t>
            </a:r>
            <a:endParaRPr lang="en-US" sz="1300" dirty="0"/>
          </a:p>
        </p:txBody>
      </p:sp>
      <p:sp>
        <p:nvSpPr>
          <p:cNvPr id="33" name="text-133"/>
          <p:cNvSpPr txBox="1"/>
          <p:nvPr/>
        </p:nvSpPr>
        <p:spPr>
          <a:xfrm>
            <a:off x="6126480" y="428853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7B04B"/>
                </a:solidFill>
              </a:rPr>
              <a:t>Row locks, fixed order</a:t>
            </a:r>
            <a:endParaRPr lang="en-US" sz="1500" dirty="0"/>
          </a:p>
        </p:txBody>
      </p:sp>
      <p:sp>
        <p:nvSpPr>
          <p:cNvPr id="34" name="text-134"/>
          <p:cNvSpPr txBox="1"/>
          <p:nvPr/>
        </p:nvSpPr>
        <p:spPr>
          <a:xfrm>
            <a:off x="6126480" y="459028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D9D6"/>
                </a:solidFill>
              </a:rPr>
              <a:t>member → book → its loans/holds, so concurrent desks queue instead of deadlocking</a:t>
            </a:r>
            <a:endParaRPr lang="en-US" sz="1300" dirty="0"/>
          </a:p>
        </p:txBody>
      </p:sp>
      <p:sp>
        <p:nvSpPr>
          <p:cNvPr id="35" name="text-135"/>
          <p:cNvSpPr txBox="1"/>
          <p:nvPr/>
        </p:nvSpPr>
        <p:spPr>
          <a:xfrm>
            <a:off x="6126480" y="522122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7B04B"/>
                </a:solidFill>
              </a:rPr>
              <a:t>Advisory lock on migrate</a:t>
            </a:r>
            <a:endParaRPr lang="en-US" sz="1500" dirty="0"/>
          </a:p>
        </p:txBody>
      </p:sp>
      <p:sp>
        <p:nvSpPr>
          <p:cNvPr id="36" name="text-136"/>
          <p:cNvSpPr txBox="1"/>
          <p:nvPr/>
        </p:nvSpPr>
        <p:spPr>
          <a:xfrm>
            <a:off x="6126480" y="552297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D9D6"/>
                </a:solidFill>
              </a:rPr>
              <a:t>every replica runs alembic upgrade at start; one migrates, the rest wait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2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Testing: rules, migrations and real races</a:t>
            </a:r>
            <a:endParaRPr lang="en-US" sz="3400" dirty="0"/>
          </a:p>
        </p:txBody>
      </p:sp>
      <p:sp>
        <p:nvSpPr>
          <p:cNvPr id="3" name="text-137"/>
          <p:cNvSpPr txBox="1"/>
          <p:nvPr/>
        </p:nvSpPr>
        <p:spPr>
          <a:xfrm>
            <a:off x="548640" y="14173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5200" dirty="0"/>
          </a:p>
        </p:txBody>
      </p:sp>
      <p:sp>
        <p:nvSpPr>
          <p:cNvPr id="4" name="text-138"/>
          <p:cNvSpPr txBox="1"/>
          <p:nvPr/>
        </p:nvSpPr>
        <p:spPr>
          <a:xfrm>
            <a:off x="548640" y="2286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tests pass on PostgreSQL in CI (72 + 2 skipped on SQLite locally)</a:t>
            </a:r>
            <a:endParaRPr lang="en-US" sz="1400" dirty="0"/>
          </a:p>
        </p:txBody>
      </p:sp>
      <p:sp>
        <p:nvSpPr>
          <p:cNvPr id="5" name="text-139"/>
          <p:cNvSpPr txBox="1"/>
          <p:nvPr/>
        </p:nvSpPr>
        <p:spPr>
          <a:xfrm>
            <a:off x="3429000" y="14173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5200" dirty="0"/>
          </a:p>
        </p:txBody>
      </p:sp>
      <p:sp>
        <p:nvSpPr>
          <p:cNvPr id="6" name="text-140"/>
          <p:cNvSpPr txBox="1"/>
          <p:nvPr/>
        </p:nvSpPr>
        <p:spPr>
          <a:xfrm>
            <a:off x="3429000" y="2286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line coverage of the backend</a:t>
            </a:r>
            <a:endParaRPr lang="en-US" sz="1400" dirty="0"/>
          </a:p>
        </p:txBody>
      </p:sp>
      <p:sp>
        <p:nvSpPr>
          <p:cNvPr id="7" name="text-141"/>
          <p:cNvSpPr txBox="1"/>
          <p:nvPr/>
        </p:nvSpPr>
        <p:spPr>
          <a:xfrm>
            <a:off x="6035040" y="14173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10</a:t>
            </a:r>
            <a:endParaRPr lang="en-US" sz="5200" dirty="0"/>
          </a:p>
        </p:txBody>
      </p:sp>
      <p:sp>
        <p:nvSpPr>
          <p:cNvPr id="8" name="text-142"/>
          <p:cNvSpPr txBox="1"/>
          <p:nvPr/>
        </p:nvSpPr>
        <p:spPr>
          <a:xfrm>
            <a:off x="6035040" y="2286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replicas racing for the last copy get it; 9 get a clear 409</a:t>
            </a:r>
            <a:endParaRPr lang="en-US" sz="1400" dirty="0"/>
          </a:p>
        </p:txBody>
      </p:sp>
      <p:sp>
        <p:nvSpPr>
          <p:cNvPr id="9" name="text-143"/>
          <p:cNvSpPr txBox="1"/>
          <p:nvPr/>
        </p:nvSpPr>
        <p:spPr>
          <a:xfrm>
            <a:off x="8915400" y="14173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6</a:t>
            </a:r>
            <a:endParaRPr lang="en-US" sz="5200" dirty="0"/>
          </a:p>
        </p:txBody>
      </p:sp>
      <p:sp>
        <p:nvSpPr>
          <p:cNvPr id="10" name="text-144"/>
          <p:cNvSpPr txBox="1"/>
          <p:nvPr/>
        </p:nvSpPr>
        <p:spPr>
          <a:xfrm>
            <a:off x="8915400" y="22860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loans for one student at six desks at once (limit 3)</a:t>
            </a:r>
            <a:endParaRPr lang="en-US" sz="1400" dirty="0"/>
          </a:p>
        </p:txBody>
      </p:sp>
      <p:sp>
        <p:nvSpPr>
          <p:cNvPr id="11" name="card-145"/>
          <p:cNvSpPr/>
          <p:nvPr/>
        </p:nvSpPr>
        <p:spPr>
          <a:xfrm>
            <a:off x="548640" y="3611880"/>
            <a:ext cx="548640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text-146"/>
          <p:cNvSpPr txBox="1"/>
          <p:nvPr/>
        </p:nvSpPr>
        <p:spPr>
          <a:xfrm>
            <a:off x="777240" y="3794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the tests stay honest</a:t>
            </a:r>
            <a:endParaRPr lang="en-US" sz="1600" dirty="0"/>
          </a:p>
        </p:txBody>
      </p:sp>
      <p:sp>
        <p:nvSpPr>
          <p:cNvPr id="13" name="text-147"/>
          <p:cNvSpPr txBox="1"/>
          <p:nvPr/>
        </p:nvSpPr>
        <p:spPr>
          <a:xfrm>
            <a:off x="777240" y="4206240"/>
            <a:ext cx="5074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Never the real database: a throwaway SQLite file, or a disposable PostgreSQL in CI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Schema built by running the real Alembic migrations (up, down, up)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 60-day simulated library checks invariants afterwards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Races run as separate processes: threads were staggered by the GIL and proved nothing</a:t>
            </a:r>
            <a:endParaRPr lang="en-US" sz="1350" dirty="0"/>
          </a:p>
        </p:txBody>
      </p:sp>
      <p:sp>
        <p:nvSpPr>
          <p:cNvPr id="14" name="card-148"/>
          <p:cNvSpPr/>
          <p:nvPr/>
        </p:nvSpPr>
        <p:spPr>
          <a:xfrm>
            <a:off x="6263640" y="3611880"/>
            <a:ext cx="5349240" cy="2606040"/>
          </a:xfrm>
          <a:prstGeom prst="roundRect">
            <a:avLst>
              <a:gd name="adj" fmla="val 4211"/>
            </a:avLst>
          </a:prstGeom>
          <a:solidFill>
            <a:srgbClr val="FCE8E5"/>
          </a:solidFill>
          <a:ln/>
        </p:spPr>
      </p:sp>
      <p:sp>
        <p:nvSpPr>
          <p:cNvPr id="15" name="text-149"/>
          <p:cNvSpPr txBox="1"/>
          <p:nvPr/>
        </p:nvSpPr>
        <p:spPr>
          <a:xfrm>
            <a:off x="6492240" y="3794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Mutation test: remove the row locks</a:t>
            </a:r>
            <a:endParaRPr lang="en-US" sz="1600" dirty="0"/>
          </a:p>
        </p:txBody>
      </p:sp>
      <p:sp>
        <p:nvSpPr>
          <p:cNvPr id="16" name="text-150"/>
          <p:cNvSpPr txBox="1"/>
          <p:nvPr/>
        </p:nvSpPr>
        <p:spPr>
          <a:xfrm>
            <a:off x="6492240" y="420624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One student, six desks: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all 6 loans go through — the limit of 3 is broken.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Last copy, ten desks: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the unique index still stops a double loan, but 9 members get a vague "retry" instead of "no copy on the shelf".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chemeClr val="tx1"/>
                </a:solidFill>
              </a:rPr>
              <a:t>Both race tests fail, every time — so they really test the locks.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2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CI/CD: every push to main, gate by gate</a:t>
            </a:r>
            <a:endParaRPr lang="en-US" sz="3400" dirty="0"/>
          </a:p>
        </p:txBody>
      </p:sp>
      <p:sp>
        <p:nvSpPr>
          <p:cNvPr id="3" name="text-151"/>
          <p:cNvSpPr txBox="1"/>
          <p:nvPr/>
        </p:nvSpPr>
        <p:spPr>
          <a:xfrm>
            <a:off x="54864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Gates in parallel</a:t>
            </a:r>
            <a:endParaRPr lang="en-US" sz="1200" dirty="0"/>
          </a:p>
        </p:txBody>
      </p:sp>
      <p:sp>
        <p:nvSpPr>
          <p:cNvPr id="4" name="card-152"/>
          <p:cNvSpPr/>
          <p:nvPr/>
        </p:nvSpPr>
        <p:spPr>
          <a:xfrm>
            <a:off x="548640" y="1691640"/>
            <a:ext cx="2834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5" name="text-153"/>
          <p:cNvSpPr txBox="1"/>
          <p:nvPr/>
        </p:nvSpPr>
        <p:spPr>
          <a:xfrm>
            <a:off x="658368" y="1691640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pytest + ruff</a:t>
            </a:r>
            <a:endParaRPr lang="en-US" sz="1400" dirty="0"/>
          </a:p>
        </p:txBody>
      </p:sp>
      <p:sp>
        <p:nvSpPr>
          <p:cNvPr id="6" name="card-154"/>
          <p:cNvSpPr/>
          <p:nvPr/>
        </p:nvSpPr>
        <p:spPr>
          <a:xfrm>
            <a:off x="548640" y="2295144"/>
            <a:ext cx="2834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7" name="text-155"/>
          <p:cNvSpPr txBox="1"/>
          <p:nvPr/>
        </p:nvSpPr>
        <p:spPr>
          <a:xfrm>
            <a:off x="658368" y="2295144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PostgreSQL: migrations, lock, races</a:t>
            </a:r>
            <a:endParaRPr lang="en-US" sz="1400" dirty="0"/>
          </a:p>
        </p:txBody>
      </p:sp>
      <p:sp>
        <p:nvSpPr>
          <p:cNvPr id="8" name="card-156"/>
          <p:cNvSpPr/>
          <p:nvPr/>
        </p:nvSpPr>
        <p:spPr>
          <a:xfrm>
            <a:off x="548640" y="2898648"/>
            <a:ext cx="2834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9" name="text-157"/>
          <p:cNvSpPr txBox="1"/>
          <p:nvPr/>
        </p:nvSpPr>
        <p:spPr>
          <a:xfrm>
            <a:off x="658368" y="2898648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Frontend build + npm audit</a:t>
            </a:r>
            <a:endParaRPr lang="en-US" sz="1400" dirty="0"/>
          </a:p>
        </p:txBody>
      </p:sp>
      <p:sp>
        <p:nvSpPr>
          <p:cNvPr id="10" name="card-158"/>
          <p:cNvSpPr/>
          <p:nvPr/>
        </p:nvSpPr>
        <p:spPr>
          <a:xfrm>
            <a:off x="548640" y="3502152"/>
            <a:ext cx="2834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11" name="text-159"/>
          <p:cNvSpPr txBox="1"/>
          <p:nvPr/>
        </p:nvSpPr>
        <p:spPr>
          <a:xfrm>
            <a:off x="658368" y="3502152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Gitleaks · Bandit · pip-audit</a:t>
            </a:r>
            <a:endParaRPr lang="en-US" sz="1400" dirty="0"/>
          </a:p>
        </p:txBody>
      </p:sp>
      <p:sp>
        <p:nvSpPr>
          <p:cNvPr id="12" name="card-160"/>
          <p:cNvSpPr/>
          <p:nvPr/>
        </p:nvSpPr>
        <p:spPr>
          <a:xfrm>
            <a:off x="548640" y="4105656"/>
            <a:ext cx="2834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13" name="text-161"/>
          <p:cNvSpPr txBox="1"/>
          <p:nvPr/>
        </p:nvSpPr>
        <p:spPr>
          <a:xfrm>
            <a:off x="658368" y="4105656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Helm lint + kubeconform</a:t>
            </a:r>
            <a:endParaRPr lang="en-US" sz="1400" dirty="0"/>
          </a:p>
        </p:txBody>
      </p:sp>
      <p:sp>
        <p:nvSpPr>
          <p:cNvPr id="14" name="card-162"/>
          <p:cNvSpPr/>
          <p:nvPr/>
        </p:nvSpPr>
        <p:spPr>
          <a:xfrm>
            <a:off x="548640" y="4709160"/>
            <a:ext cx="2834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15" name="text-163"/>
          <p:cNvSpPr txBox="1"/>
          <p:nvPr/>
        </p:nvSpPr>
        <p:spPr>
          <a:xfrm>
            <a:off x="658368" y="4709160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Terraform validate + Trivy IaC</a:t>
            </a:r>
            <a:endParaRPr lang="en-US" sz="1400" dirty="0"/>
          </a:p>
        </p:txBody>
      </p:sp>
      <p:sp>
        <p:nvSpPr>
          <p:cNvPr id="16" name="card-164"/>
          <p:cNvSpPr/>
          <p:nvPr/>
        </p:nvSpPr>
        <p:spPr>
          <a:xfrm>
            <a:off x="3886200" y="265176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7" name="text-165"/>
          <p:cNvSpPr txBox="1"/>
          <p:nvPr/>
        </p:nvSpPr>
        <p:spPr>
          <a:xfrm>
            <a:off x="3995928" y="2651760"/>
            <a:ext cx="1517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Build + Trivy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26F"/>
                </a:solidFill>
              </a:rPr>
              <a:t>both images; fixable HIGH/CRITICAL fail</a:t>
            </a:r>
            <a:endParaRPr lang="en-US" sz="1400" dirty="0"/>
          </a:p>
        </p:txBody>
      </p:sp>
      <p:sp>
        <p:nvSpPr>
          <p:cNvPr id="18" name="arrow-166"/>
          <p:cNvSpPr/>
          <p:nvPr/>
        </p:nvSpPr>
        <p:spPr>
          <a:xfrm>
            <a:off x="5623560" y="3337560"/>
            <a:ext cx="228600" cy="914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19" name="card-167"/>
          <p:cNvSpPr/>
          <p:nvPr/>
        </p:nvSpPr>
        <p:spPr>
          <a:xfrm>
            <a:off x="5852160" y="265176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0" name="text-168"/>
          <p:cNvSpPr txBox="1"/>
          <p:nvPr/>
        </p:nvSpPr>
        <p:spPr>
          <a:xfrm>
            <a:off x="5961888" y="2651760"/>
            <a:ext cx="1517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Push to GHCR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26F"/>
                </a:solidFill>
              </a:rPr>
              <a:t>:&lt;commit sha&gt;, the scanned tarball</a:t>
            </a:r>
            <a:endParaRPr lang="en-US" sz="1400" dirty="0"/>
          </a:p>
        </p:txBody>
      </p:sp>
      <p:sp>
        <p:nvSpPr>
          <p:cNvPr id="21" name="arrow-169"/>
          <p:cNvSpPr/>
          <p:nvPr/>
        </p:nvSpPr>
        <p:spPr>
          <a:xfrm>
            <a:off x="7589520" y="3337560"/>
            <a:ext cx="228600" cy="914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22" name="card-170"/>
          <p:cNvSpPr/>
          <p:nvPr/>
        </p:nvSpPr>
        <p:spPr>
          <a:xfrm>
            <a:off x="7818120" y="265176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3" name="text-171"/>
          <p:cNvSpPr txBox="1"/>
          <p:nvPr/>
        </p:nvSpPr>
        <p:spPr>
          <a:xfrm>
            <a:off x="7927848" y="2651760"/>
            <a:ext cx="1517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Deploy in kind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26F"/>
                </a:solidFill>
              </a:rPr>
              <a:t>helm upgrade --install + smoke test</a:t>
            </a:r>
            <a:endParaRPr lang="en-US" sz="1400" dirty="0"/>
          </a:p>
        </p:txBody>
      </p:sp>
      <p:sp>
        <p:nvSpPr>
          <p:cNvPr id="24" name="arrow-172"/>
          <p:cNvSpPr/>
          <p:nvPr/>
        </p:nvSpPr>
        <p:spPr>
          <a:xfrm>
            <a:off x="9555480" y="3337560"/>
            <a:ext cx="228600" cy="914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25" name="card-173"/>
          <p:cNvSpPr/>
          <p:nvPr/>
        </p:nvSpPr>
        <p:spPr>
          <a:xfrm>
            <a:off x="9784080" y="265176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26" name="text-174"/>
          <p:cNvSpPr txBox="1"/>
          <p:nvPr/>
        </p:nvSpPr>
        <p:spPr>
          <a:xfrm>
            <a:off x="9893808" y="2651760"/>
            <a:ext cx="1517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Promote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1F0EF"/>
                </a:solidFill>
              </a:rPr>
              <a:t>commit tag to values-gitops.yaml</a:t>
            </a:r>
            <a:endParaRPr lang="en-US" sz="1400" dirty="0"/>
          </a:p>
        </p:txBody>
      </p:sp>
      <p:sp>
        <p:nvSpPr>
          <p:cNvPr id="27" name="arrow-175"/>
          <p:cNvSpPr/>
          <p:nvPr/>
        </p:nvSpPr>
        <p:spPr>
          <a:xfrm>
            <a:off x="3383280" y="3337560"/>
            <a:ext cx="502920" cy="914"/>
          </a:xfrm>
          <a:prstGeom prst="line">
            <a:avLst/>
          </a:prstGeom>
          <a:noFill/>
          <a:ln w="19050">
            <a:solidFill>
              <a:srgbClr val="66726F"/>
            </a:solidFill>
            <a:prstDash val="solid"/>
            <a:tailEnd type="triangle"/>
          </a:ln>
        </p:spPr>
      </p:sp>
      <p:sp>
        <p:nvSpPr>
          <p:cNvPr id="28" name="text-176"/>
          <p:cNvSpPr txBox="1"/>
          <p:nvPr/>
        </p:nvSpPr>
        <p:spPr>
          <a:xfrm>
            <a:off x="3886200" y="44348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3m 35s</a:t>
            </a:r>
            <a:endParaRPr lang="en-US" sz="5200" dirty="0"/>
          </a:p>
        </p:txBody>
      </p:sp>
      <p:sp>
        <p:nvSpPr>
          <p:cNvPr id="29" name="text-177"/>
          <p:cNvSpPr txBox="1"/>
          <p:nvPr/>
        </p:nvSpPr>
        <p:spPr>
          <a:xfrm>
            <a:off x="3886200" y="5303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for a full green run (run #10, the live demo push)</a:t>
            </a:r>
            <a:endParaRPr lang="en-US" sz="1400" dirty="0"/>
          </a:p>
        </p:txBody>
      </p:sp>
      <p:sp>
        <p:nvSpPr>
          <p:cNvPr id="30" name="text-178"/>
          <p:cNvSpPr txBox="1"/>
          <p:nvPr/>
        </p:nvSpPr>
        <p:spPr>
          <a:xfrm>
            <a:off x="6675120" y="44348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</a:t>
            </a:r>
            <a:endParaRPr lang="en-US" sz="5200" dirty="0"/>
          </a:p>
        </p:txBody>
      </p:sp>
      <p:sp>
        <p:nvSpPr>
          <p:cNvPr id="31" name="text-179"/>
          <p:cNvSpPr txBox="1"/>
          <p:nvPr/>
        </p:nvSpPr>
        <p:spPr>
          <a:xfrm>
            <a:off x="6675120" y="53035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image tags are full commit SHAs; nothing is ever tagged latest</a:t>
            </a:r>
            <a:endParaRPr lang="en-US" sz="1400" dirty="0"/>
          </a:p>
        </p:txBody>
      </p:sp>
      <p:sp>
        <p:nvSpPr>
          <p:cNvPr id="32" name="text-180"/>
          <p:cNvSpPr txBox="1"/>
          <p:nvPr/>
        </p:nvSpPr>
        <p:spPr>
          <a:xfrm>
            <a:off x="9372600" y="4434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33" name="text-181"/>
          <p:cNvSpPr txBox="1"/>
          <p:nvPr/>
        </p:nvSpPr>
        <p:spPr>
          <a:xfrm>
            <a:off x="9372600" y="5303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deploy credentials in CI: Argo CD pulls from Git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2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DevSecOps: seven automated checks</a:t>
            </a:r>
            <a:endParaRPr lang="en-US" sz="3400" dirty="0"/>
          </a:p>
        </p:txBody>
      </p:sp>
      <p:sp>
        <p:nvSpPr>
          <p:cNvPr id="3" name="icon-bg-182"/>
          <p:cNvSpPr/>
          <p:nvPr/>
        </p:nvSpPr>
        <p:spPr>
          <a:xfrm>
            <a:off x="548640" y="14081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-18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17904"/>
            <a:ext cx="237744" cy="237744"/>
          </a:xfrm>
          <a:prstGeom prst="rect">
            <a:avLst/>
          </a:prstGeom>
        </p:spPr>
      </p:pic>
      <p:sp>
        <p:nvSpPr>
          <p:cNvPr id="5" name="text-184"/>
          <p:cNvSpPr txBox="1"/>
          <p:nvPr/>
        </p:nvSpPr>
        <p:spPr>
          <a:xfrm>
            <a:off x="1143000" y="1371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Gitleaks</a:t>
            </a:r>
            <a:endParaRPr lang="en-US" sz="1500" dirty="0"/>
          </a:p>
        </p:txBody>
      </p:sp>
      <p:sp>
        <p:nvSpPr>
          <p:cNvPr id="6" name="text-185"/>
          <p:cNvSpPr txBox="1"/>
          <p:nvPr/>
        </p:nvSpPr>
        <p:spPr>
          <a:xfrm>
            <a:off x="1143000" y="16733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secrets in the whole git history</a:t>
            </a:r>
            <a:endParaRPr lang="en-US" sz="1250" dirty="0"/>
          </a:p>
        </p:txBody>
      </p:sp>
      <p:sp>
        <p:nvSpPr>
          <p:cNvPr id="7" name="icon-bg-186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-18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03704"/>
            <a:ext cx="237744" cy="237744"/>
          </a:xfrm>
          <a:prstGeom prst="rect">
            <a:avLst/>
          </a:prstGeom>
        </p:spPr>
      </p:pic>
      <p:sp>
        <p:nvSpPr>
          <p:cNvPr id="9" name="text-188"/>
          <p:cNvSpPr txBox="1"/>
          <p:nvPr/>
        </p:nvSpPr>
        <p:spPr>
          <a:xfrm>
            <a:off x="1143000" y="2057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Bandit</a:t>
            </a:r>
            <a:endParaRPr lang="en-US" sz="1500" dirty="0"/>
          </a:p>
        </p:txBody>
      </p:sp>
      <p:sp>
        <p:nvSpPr>
          <p:cNvPr id="10" name="text-189"/>
          <p:cNvSpPr txBox="1"/>
          <p:nvPr/>
        </p:nvSpPr>
        <p:spPr>
          <a:xfrm>
            <a:off x="1143000" y="23591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Python SAST, medium+</a:t>
            </a:r>
            <a:endParaRPr lang="en-US" sz="1250" dirty="0"/>
          </a:p>
        </p:txBody>
      </p:sp>
      <p:sp>
        <p:nvSpPr>
          <p:cNvPr id="11" name="icon-bg-190"/>
          <p:cNvSpPr/>
          <p:nvPr/>
        </p:nvSpPr>
        <p:spPr>
          <a:xfrm>
            <a:off x="548640" y="27797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19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889504"/>
            <a:ext cx="237744" cy="237744"/>
          </a:xfrm>
          <a:prstGeom prst="rect">
            <a:avLst/>
          </a:prstGeom>
        </p:spPr>
      </p:pic>
      <p:sp>
        <p:nvSpPr>
          <p:cNvPr id="13" name="text-192"/>
          <p:cNvSpPr txBox="1"/>
          <p:nvPr/>
        </p:nvSpPr>
        <p:spPr>
          <a:xfrm>
            <a:off x="1143000" y="27432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pip-audit + npm audit</a:t>
            </a:r>
            <a:endParaRPr lang="en-US" sz="1500" dirty="0"/>
          </a:p>
        </p:txBody>
      </p:sp>
      <p:sp>
        <p:nvSpPr>
          <p:cNvPr id="14" name="text-193"/>
          <p:cNvSpPr txBox="1"/>
          <p:nvPr/>
        </p:nvSpPr>
        <p:spPr>
          <a:xfrm>
            <a:off x="1143000" y="30449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known-vulnerable dependencies</a:t>
            </a:r>
            <a:endParaRPr lang="en-US" sz="1250" dirty="0"/>
          </a:p>
        </p:txBody>
      </p:sp>
      <p:sp>
        <p:nvSpPr>
          <p:cNvPr id="15" name="icon-bg-194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19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575304"/>
            <a:ext cx="237744" cy="237744"/>
          </a:xfrm>
          <a:prstGeom prst="rect">
            <a:avLst/>
          </a:prstGeom>
        </p:spPr>
      </p:pic>
      <p:sp>
        <p:nvSpPr>
          <p:cNvPr id="17" name="text-196"/>
          <p:cNvSpPr txBox="1"/>
          <p:nvPr/>
        </p:nvSpPr>
        <p:spPr>
          <a:xfrm>
            <a:off x="1143000" y="3429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Trivy image ×2</a:t>
            </a:r>
            <a:endParaRPr lang="en-US" sz="1500" dirty="0"/>
          </a:p>
        </p:txBody>
      </p:sp>
      <p:sp>
        <p:nvSpPr>
          <p:cNvPr id="18" name="text-197"/>
          <p:cNvSpPr txBox="1"/>
          <p:nvPr/>
        </p:nvSpPr>
        <p:spPr>
          <a:xfrm>
            <a:off x="1143000" y="37307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OS + library CVEs, secrets in layers</a:t>
            </a:r>
            <a:endParaRPr lang="en-US" sz="1250" dirty="0"/>
          </a:p>
        </p:txBody>
      </p:sp>
      <p:sp>
        <p:nvSpPr>
          <p:cNvPr id="19" name="icon-bg-198"/>
          <p:cNvSpPr/>
          <p:nvPr/>
        </p:nvSpPr>
        <p:spPr>
          <a:xfrm>
            <a:off x="548640" y="41513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19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261104"/>
            <a:ext cx="237744" cy="237744"/>
          </a:xfrm>
          <a:prstGeom prst="rect">
            <a:avLst/>
          </a:prstGeom>
        </p:spPr>
      </p:pic>
      <p:sp>
        <p:nvSpPr>
          <p:cNvPr id="21" name="text-200"/>
          <p:cNvSpPr txBox="1"/>
          <p:nvPr/>
        </p:nvSpPr>
        <p:spPr>
          <a:xfrm>
            <a:off x="1143000" y="4114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Trivy config</a:t>
            </a:r>
            <a:endParaRPr lang="en-US" sz="1500" dirty="0"/>
          </a:p>
        </p:txBody>
      </p:sp>
      <p:sp>
        <p:nvSpPr>
          <p:cNvPr id="22" name="text-201"/>
          <p:cNvSpPr txBox="1"/>
          <p:nvPr/>
        </p:nvSpPr>
        <p:spPr>
          <a:xfrm>
            <a:off x="1143000" y="44165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Terraform misconfigurations</a:t>
            </a:r>
            <a:endParaRPr lang="en-US" sz="1250" dirty="0"/>
          </a:p>
        </p:txBody>
      </p:sp>
      <p:sp>
        <p:nvSpPr>
          <p:cNvPr id="23" name="icon-bg-202"/>
          <p:cNvSpPr/>
          <p:nvPr/>
        </p:nvSpPr>
        <p:spPr>
          <a:xfrm>
            <a:off x="548640" y="48371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-20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946904"/>
            <a:ext cx="237744" cy="237744"/>
          </a:xfrm>
          <a:prstGeom prst="rect">
            <a:avLst/>
          </a:prstGeom>
        </p:spPr>
      </p:pic>
      <p:sp>
        <p:nvSpPr>
          <p:cNvPr id="25" name="text-204"/>
          <p:cNvSpPr txBox="1"/>
          <p:nvPr/>
        </p:nvSpPr>
        <p:spPr>
          <a:xfrm>
            <a:off x="1143000" y="4800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Pod Security restricted</a:t>
            </a:r>
            <a:endParaRPr lang="en-US" sz="1500" dirty="0"/>
          </a:p>
        </p:txBody>
      </p:sp>
      <p:sp>
        <p:nvSpPr>
          <p:cNvPr id="26" name="text-205"/>
          <p:cNvSpPr txBox="1"/>
          <p:nvPr/>
        </p:nvSpPr>
        <p:spPr>
          <a:xfrm>
            <a:off x="1143000" y="51023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non-root, no caps, seccomp, RO root</a:t>
            </a:r>
            <a:endParaRPr lang="en-US" sz="1250" dirty="0"/>
          </a:p>
        </p:txBody>
      </p:sp>
      <p:sp>
        <p:nvSpPr>
          <p:cNvPr id="27" name="icon-bg-206"/>
          <p:cNvSpPr/>
          <p:nvPr/>
        </p:nvSpPr>
        <p:spPr>
          <a:xfrm>
            <a:off x="548640" y="55229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con-20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5632704"/>
            <a:ext cx="237744" cy="237744"/>
          </a:xfrm>
          <a:prstGeom prst="rect">
            <a:avLst/>
          </a:prstGeom>
        </p:spPr>
      </p:pic>
      <p:sp>
        <p:nvSpPr>
          <p:cNvPr id="29" name="text-208"/>
          <p:cNvSpPr txBox="1"/>
          <p:nvPr/>
        </p:nvSpPr>
        <p:spPr>
          <a:xfrm>
            <a:off x="1143000" y="5486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Pinned supply chain</a:t>
            </a:r>
            <a:endParaRPr lang="en-US" sz="1500" dirty="0"/>
          </a:p>
        </p:txBody>
      </p:sp>
      <p:sp>
        <p:nvSpPr>
          <p:cNvPr id="30" name="text-209"/>
          <p:cNvSpPr txBox="1"/>
          <p:nvPr/>
        </p:nvSpPr>
        <p:spPr>
          <a:xfrm>
            <a:off x="1143000" y="57881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actions by commit SHA, images by digest</a:t>
            </a:r>
            <a:endParaRPr lang="en-US" sz="1250" dirty="0"/>
          </a:p>
        </p:txBody>
      </p:sp>
      <p:sp>
        <p:nvSpPr>
          <p:cNvPr id="31" name="card-210"/>
          <p:cNvSpPr/>
          <p:nvPr/>
        </p:nvSpPr>
        <p:spPr>
          <a:xfrm>
            <a:off x="5760720" y="1371600"/>
            <a:ext cx="585216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/>
        </p:spPr>
      </p:sp>
      <p:sp>
        <p:nvSpPr>
          <p:cNvPr id="32" name="text-211"/>
          <p:cNvSpPr txBox="1"/>
          <p:nvPr/>
        </p:nvSpPr>
        <p:spPr>
          <a:xfrm>
            <a:off x="6035040" y="157276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Trivy gate lets through, and why</a:t>
            </a:r>
            <a:endParaRPr lang="en-US" sz="1800" dirty="0"/>
          </a:p>
        </p:txBody>
      </p:sp>
      <p:sp>
        <p:nvSpPr>
          <p:cNvPr id="33" name="text-212"/>
          <p:cNvSpPr txBox="1"/>
          <p:nvPr/>
        </p:nvSpPr>
        <p:spPr>
          <a:xfrm>
            <a:off x="6035040" y="2331720"/>
            <a:ext cx="5303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The gate fails a build on any HIGH or CRITICAL CVE that has a fixed version, and on any HIGH or CRITICAL secret finding in an image layer. Both images pass: nothing fixable, no secrets at those levels.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Scanned without --ignore-unfixed, the backend's Debian 13 base still shows 8 HIGH CVEs (0 CRITICAL) with no fix released. Example: CVE-2025-69720, a stack overflow in ncurses' infocmp (CVSS 7.8, local). Fixed upstream in 6.5-20251213; Debian's 6.5+20250216-2 is still marked affected.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They sit in OS packages the Python API doesn't call (ncurses, util-linux, systemd libraries), in a container that runs non-root with a read-only root filesystem. Blocking on them would stop every release with nothing to upgrade to; the digest-pinned base image is bumped when Debian ships fixes, and CI rescans every build.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2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AWS with Terraform: VPC and EKS in ap-south-1</a:t>
            </a:r>
            <a:endParaRPr lang="en-US" sz="3400" dirty="0"/>
          </a:p>
        </p:txBody>
      </p:sp>
      <p:sp>
        <p:nvSpPr>
          <p:cNvPr id="3" name="card-213"/>
          <p:cNvSpPr/>
          <p:nvPr/>
        </p:nvSpPr>
        <p:spPr>
          <a:xfrm>
            <a:off x="548640" y="1371600"/>
            <a:ext cx="676656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rgbClr val="C9D5EE"/>
            </a:solidFill>
            <a:prstDash val="solid"/>
          </a:ln>
        </p:spPr>
      </p:sp>
      <p:sp>
        <p:nvSpPr>
          <p:cNvPr id="4" name="text-214"/>
          <p:cNvSpPr txBox="1"/>
          <p:nvPr/>
        </p:nvSpPr>
        <p:spPr>
          <a:xfrm>
            <a:off x="77724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5"/>
                </a:solidFill>
              </a:rPr>
              <a:t>VPC 10.20.0.0/16</a:t>
            </a:r>
            <a:endParaRPr lang="en-US" sz="1250" dirty="0"/>
          </a:p>
        </p:txBody>
      </p:sp>
      <p:sp>
        <p:nvSpPr>
          <p:cNvPr id="5" name="card-215"/>
          <p:cNvSpPr/>
          <p:nvPr/>
        </p:nvSpPr>
        <p:spPr>
          <a:xfrm>
            <a:off x="2743200" y="1481328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E9EEF9"/>
          </a:solidFill>
          <a:ln/>
        </p:spPr>
      </p:sp>
      <p:sp>
        <p:nvSpPr>
          <p:cNvPr id="6" name="text-216"/>
          <p:cNvSpPr txBox="1"/>
          <p:nvPr/>
        </p:nvSpPr>
        <p:spPr>
          <a:xfrm>
            <a:off x="2852928" y="148132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Internet gateway</a:t>
            </a:r>
            <a:endParaRPr lang="en-US" sz="1400" dirty="0"/>
          </a:p>
        </p:txBody>
      </p:sp>
      <p:sp>
        <p:nvSpPr>
          <p:cNvPr id="7" name="card-217"/>
          <p:cNvSpPr/>
          <p:nvPr/>
        </p:nvSpPr>
        <p:spPr>
          <a:xfrm>
            <a:off x="777240" y="2011680"/>
            <a:ext cx="3063240" cy="256032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8" name="text-218"/>
          <p:cNvSpPr txBox="1"/>
          <p:nvPr/>
        </p:nvSpPr>
        <p:spPr>
          <a:xfrm>
            <a:off x="91440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ap-south-1a</a:t>
            </a:r>
            <a:endParaRPr lang="en-US" sz="1150" dirty="0"/>
          </a:p>
        </p:txBody>
      </p:sp>
      <p:sp>
        <p:nvSpPr>
          <p:cNvPr id="9" name="card-219"/>
          <p:cNvSpPr/>
          <p:nvPr/>
        </p:nvSpPr>
        <p:spPr>
          <a:xfrm>
            <a:off x="914400" y="2423160"/>
            <a:ext cx="2788920" cy="868680"/>
          </a:xfrm>
          <a:prstGeom prst="roundRect">
            <a:avLst>
              <a:gd name="adj" fmla="val 12632"/>
            </a:avLst>
          </a:prstGeom>
          <a:solidFill>
            <a:srgbClr val="E9EEF9"/>
          </a:solidFill>
          <a:ln/>
        </p:spPr>
      </p:sp>
      <p:sp>
        <p:nvSpPr>
          <p:cNvPr id="10" name="text-220"/>
          <p:cNvSpPr txBox="1"/>
          <p:nvPr/>
        </p:nvSpPr>
        <p:spPr>
          <a:xfrm>
            <a:off x="1024128" y="2423160"/>
            <a:ext cx="2569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Public subnet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NAT gateway · load balancers</a:t>
            </a:r>
            <a:endParaRPr lang="en-US" sz="1400" dirty="0"/>
          </a:p>
        </p:txBody>
      </p:sp>
      <p:sp>
        <p:nvSpPr>
          <p:cNvPr id="11" name="card-221"/>
          <p:cNvSpPr/>
          <p:nvPr/>
        </p:nvSpPr>
        <p:spPr>
          <a:xfrm>
            <a:off x="914400" y="3520440"/>
            <a:ext cx="2788920" cy="914400"/>
          </a:xfrm>
          <a:prstGeom prst="roundRect">
            <a:avLst>
              <a:gd name="adj" fmla="val 12000"/>
            </a:avLst>
          </a:prstGeom>
          <a:solidFill>
            <a:srgbClr val="E1F0EF"/>
          </a:solidFill>
          <a:ln/>
        </p:spPr>
      </p:sp>
      <p:sp>
        <p:nvSpPr>
          <p:cNvPr id="12" name="text-222"/>
          <p:cNvSpPr txBox="1"/>
          <p:nvPr/>
        </p:nvSpPr>
        <p:spPr>
          <a:xfrm>
            <a:off x="1024128" y="3520440"/>
            <a:ext cx="2569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Private subnet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EKS worker node (t3.medium)</a:t>
            </a:r>
            <a:endParaRPr lang="en-US" sz="1400" dirty="0"/>
          </a:p>
        </p:txBody>
      </p:sp>
      <p:sp>
        <p:nvSpPr>
          <p:cNvPr id="13" name="card-223"/>
          <p:cNvSpPr/>
          <p:nvPr/>
        </p:nvSpPr>
        <p:spPr>
          <a:xfrm>
            <a:off x="4069080" y="2011680"/>
            <a:ext cx="3063240" cy="256032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4" name="text-224"/>
          <p:cNvSpPr txBox="1"/>
          <p:nvPr/>
        </p:nvSpPr>
        <p:spPr>
          <a:xfrm>
            <a:off x="420624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ap-south-1b</a:t>
            </a:r>
            <a:endParaRPr lang="en-US" sz="1150" dirty="0"/>
          </a:p>
        </p:txBody>
      </p:sp>
      <p:sp>
        <p:nvSpPr>
          <p:cNvPr id="15" name="card-225"/>
          <p:cNvSpPr/>
          <p:nvPr/>
        </p:nvSpPr>
        <p:spPr>
          <a:xfrm>
            <a:off x="4206240" y="2423160"/>
            <a:ext cx="2788920" cy="868680"/>
          </a:xfrm>
          <a:prstGeom prst="roundRect">
            <a:avLst>
              <a:gd name="adj" fmla="val 12632"/>
            </a:avLst>
          </a:prstGeom>
          <a:solidFill>
            <a:srgbClr val="E9EEF9"/>
          </a:solidFill>
          <a:ln/>
        </p:spPr>
      </p:sp>
      <p:sp>
        <p:nvSpPr>
          <p:cNvPr id="16" name="text-226"/>
          <p:cNvSpPr txBox="1"/>
          <p:nvPr/>
        </p:nvSpPr>
        <p:spPr>
          <a:xfrm>
            <a:off x="4315968" y="2423160"/>
            <a:ext cx="2569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Public subnet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load balancers</a:t>
            </a:r>
            <a:endParaRPr lang="en-US" sz="1400" dirty="0"/>
          </a:p>
        </p:txBody>
      </p:sp>
      <p:sp>
        <p:nvSpPr>
          <p:cNvPr id="17" name="card-227"/>
          <p:cNvSpPr/>
          <p:nvPr/>
        </p:nvSpPr>
        <p:spPr>
          <a:xfrm>
            <a:off x="4206240" y="3520440"/>
            <a:ext cx="2788920" cy="914400"/>
          </a:xfrm>
          <a:prstGeom prst="roundRect">
            <a:avLst>
              <a:gd name="adj" fmla="val 12000"/>
            </a:avLst>
          </a:prstGeom>
          <a:solidFill>
            <a:srgbClr val="E1F0EF"/>
          </a:solidFill>
          <a:ln/>
        </p:spPr>
      </p:sp>
      <p:sp>
        <p:nvSpPr>
          <p:cNvPr id="18" name="text-228"/>
          <p:cNvSpPr txBox="1"/>
          <p:nvPr/>
        </p:nvSpPr>
        <p:spPr>
          <a:xfrm>
            <a:off x="4315968" y="3520440"/>
            <a:ext cx="2569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Private subnet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EKS worker node (t3.medium)</a:t>
            </a:r>
            <a:endParaRPr lang="en-US" sz="1400" dirty="0"/>
          </a:p>
        </p:txBody>
      </p:sp>
      <p:sp>
        <p:nvSpPr>
          <p:cNvPr id="19" name="card-229"/>
          <p:cNvSpPr/>
          <p:nvPr/>
        </p:nvSpPr>
        <p:spPr>
          <a:xfrm>
            <a:off x="777240" y="4754880"/>
            <a:ext cx="635508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</p:spPr>
      </p:sp>
      <p:sp>
        <p:nvSpPr>
          <p:cNvPr id="20" name="text-230"/>
          <p:cNvSpPr txBox="1"/>
          <p:nvPr/>
        </p:nvSpPr>
        <p:spPr>
          <a:xfrm>
            <a:off x="886968" y="4754880"/>
            <a:ext cx="6135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EKS control plane 1.35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1F0EF"/>
                </a:solidFill>
              </a:rPr>
              <a:t>AWS-managed · API mode · audit logs</a:t>
            </a:r>
            <a:endParaRPr lang="en-US" sz="1400" dirty="0"/>
          </a:p>
        </p:txBody>
      </p:sp>
      <p:sp>
        <p:nvSpPr>
          <p:cNvPr id="21" name="text-231"/>
          <p:cNvSpPr txBox="1"/>
          <p:nvPr/>
        </p:nvSpPr>
        <p:spPr>
          <a:xfrm>
            <a:off x="777240" y="566928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Managed node group in the private subnets · EBS CSI driver via EKS Pod Identity</a:t>
            </a:r>
            <a:endParaRPr lang="en-US" sz="1200" dirty="0"/>
          </a:p>
        </p:txBody>
      </p:sp>
      <p:sp>
        <p:nvSpPr>
          <p:cNvPr id="22" name="text-232"/>
          <p:cNvSpPr txBox="1"/>
          <p:nvPr/>
        </p:nvSpPr>
        <p:spPr>
          <a:xfrm>
            <a:off x="7680960" y="1371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5200" dirty="0"/>
          </a:p>
        </p:txBody>
      </p:sp>
      <p:sp>
        <p:nvSpPr>
          <p:cNvPr id="23" name="text-233"/>
          <p:cNvSpPr txBox="1"/>
          <p:nvPr/>
        </p:nvSpPr>
        <p:spPr>
          <a:xfrm>
            <a:off x="7680960" y="22402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resources in one plan, all plain HCL</a:t>
            </a:r>
            <a:endParaRPr lang="en-US" sz="1400" dirty="0"/>
          </a:p>
        </p:txBody>
      </p:sp>
      <p:sp>
        <p:nvSpPr>
          <p:cNvPr id="24" name="text-234"/>
          <p:cNvSpPr txBox="1"/>
          <p:nvPr/>
        </p:nvSpPr>
        <p:spPr>
          <a:xfrm>
            <a:off x="7680960" y="29718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12m 23s</a:t>
            </a:r>
            <a:endParaRPr lang="en-US" sz="5200" dirty="0"/>
          </a:p>
        </p:txBody>
      </p:sp>
      <p:sp>
        <p:nvSpPr>
          <p:cNvPr id="25" name="text-235"/>
          <p:cNvSpPr txBox="1"/>
          <p:nvPr/>
        </p:nvSpPr>
        <p:spPr>
          <a:xfrm>
            <a:off x="7680960" y="38404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terraform apply, end to end</a:t>
            </a:r>
            <a:endParaRPr lang="en-US" sz="1400" dirty="0"/>
          </a:p>
        </p:txBody>
      </p:sp>
      <p:sp>
        <p:nvSpPr>
          <p:cNvPr id="26" name="text-236"/>
          <p:cNvSpPr txBox="1"/>
          <p:nvPr/>
        </p:nvSpPr>
        <p:spPr>
          <a:xfrm>
            <a:off x="7680960" y="45720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$1</a:t>
            </a:r>
            <a:endParaRPr lang="en-US" sz="5200" dirty="0"/>
          </a:p>
        </p:txBody>
      </p:sp>
      <p:sp>
        <p:nvSpPr>
          <p:cNvPr id="27" name="text-237"/>
          <p:cNvSpPr txBox="1"/>
          <p:nvPr/>
        </p:nvSpPr>
        <p:spPr>
          <a:xfrm>
            <a:off x="7680960" y="5440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for the whole apply → screenshots → destroy cycle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2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Kubernetes with Helm, deployed by Argo CD</a:t>
            </a:r>
            <a:endParaRPr lang="en-US" sz="3400" dirty="0"/>
          </a:p>
        </p:txBody>
      </p:sp>
      <p:sp>
        <p:nvSpPr>
          <p:cNvPr id="3" name="text-238"/>
          <p:cNvSpPr txBox="1"/>
          <p:nvPr/>
        </p:nvSpPr>
        <p:spPr>
          <a:xfrm>
            <a:off x="548640" y="13716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Deployments</a:t>
            </a:r>
            <a:endParaRPr lang="en-US" sz="1500" dirty="0"/>
          </a:p>
        </p:txBody>
      </p:sp>
      <p:sp>
        <p:nvSpPr>
          <p:cNvPr id="4" name="text-239"/>
          <p:cNvSpPr txBox="1"/>
          <p:nvPr/>
        </p:nvSpPr>
        <p:spPr>
          <a:xfrm>
            <a:off x="548640" y="16733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backend (HPA 2–6), frontend (2)</a:t>
            </a:r>
            <a:endParaRPr lang="en-US" sz="1250" dirty="0"/>
          </a:p>
        </p:txBody>
      </p:sp>
      <p:sp>
        <p:nvSpPr>
          <p:cNvPr id="5" name="text-240"/>
          <p:cNvSpPr txBox="1"/>
          <p:nvPr/>
        </p:nvSpPr>
        <p:spPr>
          <a:xfrm>
            <a:off x="548640" y="204825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Services</a:t>
            </a:r>
            <a:endParaRPr lang="en-US" sz="1500" dirty="0"/>
          </a:p>
        </p:txBody>
      </p:sp>
      <p:sp>
        <p:nvSpPr>
          <p:cNvPr id="6" name="text-241"/>
          <p:cNvSpPr txBox="1"/>
          <p:nvPr/>
        </p:nvSpPr>
        <p:spPr>
          <a:xfrm>
            <a:off x="548640" y="23500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ClusterIP for API, UI; headless for DB</a:t>
            </a:r>
            <a:endParaRPr lang="en-US" sz="1250" dirty="0"/>
          </a:p>
        </p:txBody>
      </p:sp>
      <p:sp>
        <p:nvSpPr>
          <p:cNvPr id="7" name="text-242"/>
          <p:cNvSpPr txBox="1"/>
          <p:nvPr/>
        </p:nvSpPr>
        <p:spPr>
          <a:xfrm>
            <a:off x="548640" y="27249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Ingress</a:t>
            </a:r>
            <a:endParaRPr lang="en-US" sz="1500" dirty="0"/>
          </a:p>
        </p:txBody>
      </p:sp>
      <p:sp>
        <p:nvSpPr>
          <p:cNvPr id="8" name="text-243"/>
          <p:cNvSpPr txBox="1"/>
          <p:nvPr/>
        </p:nvSpPr>
        <p:spPr>
          <a:xfrm>
            <a:off x="548640" y="30266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Traefik: / → UI, /api → API</a:t>
            </a:r>
            <a:endParaRPr lang="en-US" sz="1250" dirty="0"/>
          </a:p>
        </p:txBody>
      </p:sp>
      <p:sp>
        <p:nvSpPr>
          <p:cNvPr id="9" name="text-244"/>
          <p:cNvSpPr txBox="1"/>
          <p:nvPr/>
        </p:nvSpPr>
        <p:spPr>
          <a:xfrm>
            <a:off x="548640" y="34015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StatefulSet + PVC</a:t>
            </a:r>
            <a:endParaRPr lang="en-US" sz="1500" dirty="0"/>
          </a:p>
        </p:txBody>
      </p:sp>
      <p:sp>
        <p:nvSpPr>
          <p:cNvPr id="10" name="text-245"/>
          <p:cNvSpPr txBox="1"/>
          <p:nvPr/>
        </p:nvSpPr>
        <p:spPr>
          <a:xfrm>
            <a:off x="548640" y="3703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PostgreSQL 17</a:t>
            </a:r>
            <a:endParaRPr lang="en-US" sz="1250" dirty="0"/>
          </a:p>
        </p:txBody>
      </p:sp>
      <p:sp>
        <p:nvSpPr>
          <p:cNvPr id="11" name="text-246"/>
          <p:cNvSpPr txBox="1"/>
          <p:nvPr/>
        </p:nvSpPr>
        <p:spPr>
          <a:xfrm>
            <a:off x="548640" y="40782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HPA · PDB · NetworkPolicy</a:t>
            </a:r>
            <a:endParaRPr lang="en-US" sz="1500" dirty="0"/>
          </a:p>
        </p:txBody>
      </p:sp>
      <p:sp>
        <p:nvSpPr>
          <p:cNvPr id="12" name="text-247"/>
          <p:cNvSpPr txBox="1"/>
          <p:nvPr/>
        </p:nvSpPr>
        <p:spPr>
          <a:xfrm>
            <a:off x="548640" y="43799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scale, survive drains, isolate DB</a:t>
            </a:r>
            <a:endParaRPr lang="en-US" sz="1250" dirty="0"/>
          </a:p>
        </p:txBody>
      </p:sp>
      <p:sp>
        <p:nvSpPr>
          <p:cNvPr id="13" name="text-248"/>
          <p:cNvSpPr txBox="1"/>
          <p:nvPr/>
        </p:nvSpPr>
        <p:spPr>
          <a:xfrm>
            <a:off x="548640" y="4754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CronJob</a:t>
            </a:r>
            <a:endParaRPr lang="en-US" sz="1500" dirty="0"/>
          </a:p>
        </p:txBody>
      </p:sp>
      <p:sp>
        <p:nvSpPr>
          <p:cNvPr id="14" name="text-249"/>
          <p:cNvSpPr txBox="1"/>
          <p:nvPr/>
        </p:nvSpPr>
        <p:spPr>
          <a:xfrm>
            <a:off x="548640" y="50566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lapse uncollected holds</a:t>
            </a:r>
            <a:endParaRPr lang="en-US" sz="1250" dirty="0"/>
          </a:p>
        </p:txBody>
      </p:sp>
      <p:sp>
        <p:nvSpPr>
          <p:cNvPr id="15" name="text-250"/>
          <p:cNvSpPr txBox="1"/>
          <p:nvPr/>
        </p:nvSpPr>
        <p:spPr>
          <a:xfrm>
            <a:off x="548640" y="54315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ServiceMonitor · PrometheusRule</a:t>
            </a:r>
            <a:endParaRPr lang="en-US" sz="1500" dirty="0"/>
          </a:p>
        </p:txBody>
      </p:sp>
      <p:sp>
        <p:nvSpPr>
          <p:cNvPr id="16" name="text-251"/>
          <p:cNvSpPr txBox="1"/>
          <p:nvPr/>
        </p:nvSpPr>
        <p:spPr>
          <a:xfrm>
            <a:off x="548640" y="57332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scrape + alert</a:t>
            </a:r>
            <a:endParaRPr lang="en-US" sz="1250" dirty="0"/>
          </a:p>
        </p:txBody>
      </p:sp>
      <p:sp>
        <p:nvSpPr>
          <p:cNvPr id="17" name="card-252"/>
          <p:cNvSpPr/>
          <p:nvPr/>
        </p:nvSpPr>
        <p:spPr>
          <a:xfrm>
            <a:off x="5989320" y="1371600"/>
            <a:ext cx="562356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/>
        </p:spPr>
      </p:sp>
      <p:sp>
        <p:nvSpPr>
          <p:cNvPr id="18" name="text-253"/>
          <p:cNvSpPr txBox="1"/>
          <p:nvPr/>
        </p:nvSpPr>
        <p:spPr>
          <a:xfrm>
            <a:off x="6263640" y="15361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GitOps loop</a:t>
            </a:r>
            <a:endParaRPr lang="en-US" sz="1600" dirty="0"/>
          </a:p>
        </p:txBody>
      </p:sp>
      <p:sp>
        <p:nvSpPr>
          <p:cNvPr id="19" name="card-254"/>
          <p:cNvSpPr/>
          <p:nvPr/>
        </p:nvSpPr>
        <p:spPr>
          <a:xfrm>
            <a:off x="7452360" y="2011680"/>
            <a:ext cx="237744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</p:spPr>
      </p:sp>
      <p:sp>
        <p:nvSpPr>
          <p:cNvPr id="20" name="text-255"/>
          <p:cNvSpPr txBox="1"/>
          <p:nvPr/>
        </p:nvSpPr>
        <p:spPr>
          <a:xfrm>
            <a:off x="7562088" y="201168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· commit + push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code change</a:t>
            </a:r>
            <a:endParaRPr lang="en-US" sz="1400" dirty="0"/>
          </a:p>
        </p:txBody>
      </p:sp>
      <p:sp>
        <p:nvSpPr>
          <p:cNvPr id="21" name="card-256"/>
          <p:cNvSpPr/>
          <p:nvPr/>
        </p:nvSpPr>
        <p:spPr>
          <a:xfrm>
            <a:off x="9464040" y="3383280"/>
            <a:ext cx="205740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</p:spPr>
      </p:sp>
      <p:sp>
        <p:nvSpPr>
          <p:cNvPr id="22" name="text-257"/>
          <p:cNvSpPr txBox="1"/>
          <p:nvPr/>
        </p:nvSpPr>
        <p:spPr>
          <a:xfrm>
            <a:off x="9573768" y="3383280"/>
            <a:ext cx="1837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· CI promotes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new SHA into Git</a:t>
            </a:r>
            <a:endParaRPr lang="en-US" sz="1400" dirty="0"/>
          </a:p>
        </p:txBody>
      </p:sp>
      <p:sp>
        <p:nvSpPr>
          <p:cNvPr id="23" name="card-258"/>
          <p:cNvSpPr/>
          <p:nvPr/>
        </p:nvSpPr>
        <p:spPr>
          <a:xfrm>
            <a:off x="7452360" y="4754880"/>
            <a:ext cx="237744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</p:spPr>
      </p:sp>
      <p:sp>
        <p:nvSpPr>
          <p:cNvPr id="24" name="text-259"/>
          <p:cNvSpPr txBox="1"/>
          <p:nvPr/>
        </p:nvSpPr>
        <p:spPr>
          <a:xfrm>
            <a:off x="7562088" y="475488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 · Argo CD syncs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≤ 60 s poll</a:t>
            </a:r>
            <a:endParaRPr lang="en-US" sz="1400" dirty="0"/>
          </a:p>
        </p:txBody>
      </p:sp>
      <p:sp>
        <p:nvSpPr>
          <p:cNvPr id="25" name="card-260"/>
          <p:cNvSpPr/>
          <p:nvPr/>
        </p:nvSpPr>
        <p:spPr>
          <a:xfrm>
            <a:off x="5760720" y="3383280"/>
            <a:ext cx="205740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</p:spPr>
      </p:sp>
      <p:sp>
        <p:nvSpPr>
          <p:cNvPr id="26" name="text-261"/>
          <p:cNvSpPr txBox="1"/>
          <p:nvPr/>
        </p:nvSpPr>
        <p:spPr>
          <a:xfrm>
            <a:off x="5870448" y="3383280"/>
            <a:ext cx="1837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 · rollout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maxUnavailable 0</a:t>
            </a:r>
            <a:endParaRPr lang="en-US" sz="1400" dirty="0"/>
          </a:p>
        </p:txBody>
      </p:sp>
      <p:sp>
        <p:nvSpPr>
          <p:cNvPr id="27" name="arrow-262"/>
          <p:cNvSpPr/>
          <p:nvPr/>
        </p:nvSpPr>
        <p:spPr>
          <a:xfrm>
            <a:off x="9829800" y="2377440"/>
            <a:ext cx="640080" cy="1005840"/>
          </a:xfrm>
          <a:prstGeom prst="line">
            <a:avLst/>
          </a:prstGeom>
          <a:noFill/>
          <a:ln w="19050">
            <a:solidFill>
              <a:srgbClr val="0F7680"/>
            </a:solidFill>
            <a:prstDash val="solid"/>
            <a:tailEnd type="triangle"/>
          </a:ln>
        </p:spPr>
      </p:sp>
      <p:sp>
        <p:nvSpPr>
          <p:cNvPr id="28" name="arrow-263"/>
          <p:cNvSpPr/>
          <p:nvPr/>
        </p:nvSpPr>
        <p:spPr>
          <a:xfrm flipH="1">
            <a:off x="9829800" y="4114800"/>
            <a:ext cx="640080" cy="1005840"/>
          </a:xfrm>
          <a:prstGeom prst="line">
            <a:avLst/>
          </a:prstGeom>
          <a:noFill/>
          <a:ln w="19050">
            <a:solidFill>
              <a:srgbClr val="0F7680"/>
            </a:solidFill>
            <a:prstDash val="solid"/>
            <a:tailEnd type="triangle"/>
          </a:ln>
        </p:spPr>
      </p:sp>
      <p:sp>
        <p:nvSpPr>
          <p:cNvPr id="29" name="arrow-264"/>
          <p:cNvSpPr/>
          <p:nvPr/>
        </p:nvSpPr>
        <p:spPr>
          <a:xfrm flipH="1" flipV="1">
            <a:off x="6812280" y="4114800"/>
            <a:ext cx="640080" cy="1005840"/>
          </a:xfrm>
          <a:prstGeom prst="line">
            <a:avLst/>
          </a:prstGeom>
          <a:noFill/>
          <a:ln w="19050">
            <a:solidFill>
              <a:srgbClr val="0F7680"/>
            </a:solidFill>
            <a:prstDash val="solid"/>
            <a:tailEnd type="triangle"/>
          </a:ln>
        </p:spPr>
      </p:sp>
      <p:sp>
        <p:nvSpPr>
          <p:cNvPr id="30" name="arrow-265"/>
          <p:cNvSpPr/>
          <p:nvPr/>
        </p:nvSpPr>
        <p:spPr>
          <a:xfrm flipV="1">
            <a:off x="6812280" y="2377440"/>
            <a:ext cx="640080" cy="1005840"/>
          </a:xfrm>
          <a:prstGeom prst="line">
            <a:avLst/>
          </a:prstGeom>
          <a:noFill/>
          <a:ln w="19050">
            <a:solidFill>
              <a:srgbClr val="0F7680"/>
            </a:solidFill>
            <a:prstDash val="solid"/>
            <a:tailEnd type="triangle"/>
          </a:ln>
        </p:spPr>
      </p:sp>
      <p:sp>
        <p:nvSpPr>
          <p:cNvPr id="31" name="text-266"/>
          <p:cNvSpPr txBox="1"/>
          <p:nvPr/>
        </p:nvSpPr>
        <p:spPr>
          <a:xfrm>
            <a:off x="6263640" y="5669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Live demo: commit to Synced in 4 min 25 s (CI 3 min 35 s, then Argo CD picked up the promotion 48 s later)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2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Autoscaling under load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4980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-267"/>
          <p:cNvSpPr txBox="1"/>
          <p:nvPr/>
        </p:nvSpPr>
        <p:spPr>
          <a:xfrm>
            <a:off x="8412480" y="13716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200" dirty="0"/>
          </a:p>
        </p:txBody>
      </p:sp>
      <p:sp>
        <p:nvSpPr>
          <p:cNvPr id="5" name="text-268"/>
          <p:cNvSpPr txBox="1"/>
          <p:nvPr/>
        </p:nvSpPr>
        <p:spPr>
          <a:xfrm>
            <a:off x="8412480" y="2240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pods at peak (max 6)</a:t>
            </a:r>
            <a:endParaRPr lang="en-US" sz="1400" dirty="0"/>
          </a:p>
        </p:txBody>
      </p:sp>
      <p:sp>
        <p:nvSpPr>
          <p:cNvPr id="6" name="text-269"/>
          <p:cNvSpPr txBox="1"/>
          <p:nvPr/>
        </p:nvSpPr>
        <p:spPr>
          <a:xfrm>
            <a:off x="8412480" y="2971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s</a:t>
            </a:r>
            <a:endParaRPr lang="en-US" sz="5200" dirty="0"/>
          </a:p>
        </p:txBody>
      </p:sp>
      <p:sp>
        <p:nvSpPr>
          <p:cNvPr id="7" name="text-270"/>
          <p:cNvSpPr txBox="1"/>
          <p:nvPr/>
        </p:nvSpPr>
        <p:spPr>
          <a:xfrm>
            <a:off x="8412480" y="3840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until the first scale-out decision (all 6 pods by 75 s)</a:t>
            </a:r>
            <a:endParaRPr lang="en-US" sz="1400" dirty="0"/>
          </a:p>
        </p:txBody>
      </p:sp>
      <p:sp>
        <p:nvSpPr>
          <p:cNvPr id="8" name="text-271"/>
          <p:cNvSpPr txBox="1"/>
          <p:nvPr/>
        </p:nvSpPr>
        <p:spPr>
          <a:xfrm>
            <a:off x="8412480" y="45720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 20s</a:t>
            </a:r>
            <a:endParaRPr lang="en-US" sz="5200" dirty="0"/>
          </a:p>
        </p:txBody>
      </p:sp>
      <p:sp>
        <p:nvSpPr>
          <p:cNvPr id="9" name="text-272"/>
          <p:cNvSpPr txBox="1"/>
          <p:nvPr/>
        </p:nvSpPr>
        <p:spPr>
          <a:xfrm>
            <a:off x="8412480" y="5440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after load stopped, back to 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2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Observability: Prometheus, Grafana and alerts</a:t>
            </a:r>
            <a:endParaRPr lang="en-US" sz="3400" dirty="0"/>
          </a:p>
        </p:txBody>
      </p:sp>
      <p:pic>
        <p:nvPicPr>
          <p:cNvPr id="3" name="grafana-273" descr="/Users/shubhamkumar/devops assigemetn/devops-heros/session21-python/screenshots/m9-grafan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371600"/>
            <a:ext cx="7040880" cy="4846320"/>
          </a:xfrm>
          <a:prstGeom prst="rect">
            <a:avLst/>
          </a:prstGeom>
        </p:spPr>
      </p:pic>
      <p:sp>
        <p:nvSpPr>
          <p:cNvPr id="4" name="text-274"/>
          <p:cNvSpPr txBox="1"/>
          <p:nvPr/>
        </p:nvSpPr>
        <p:spPr>
          <a:xfrm>
            <a:off x="54864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the API exposes at /metrics</a:t>
            </a:r>
            <a:endParaRPr lang="en-US" sz="1600" dirty="0"/>
          </a:p>
        </p:txBody>
      </p:sp>
      <p:sp>
        <p:nvSpPr>
          <p:cNvPr id="5" name="text-275"/>
          <p:cNvSpPr txBox="1"/>
          <p:nvPr/>
        </p:nvSpPr>
        <p:spPr>
          <a:xfrm>
            <a:off x="548640" y="178308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HTTP rate, latency and status per route (buckets from 5 ms)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Loans out, overdue, holds, unpaid fines, copies by status — read from the DB at scrape time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Refusals per rule (409s) and the running build SHA</a:t>
            </a:r>
            <a:endParaRPr lang="en-US" sz="1350" dirty="0"/>
          </a:p>
        </p:txBody>
      </p:sp>
      <p:sp>
        <p:nvSpPr>
          <p:cNvPr id="6" name="text-276"/>
          <p:cNvSpPr txBox="1"/>
          <p:nvPr/>
        </p:nvSpPr>
        <p:spPr>
          <a:xfrm>
            <a:off x="548640" y="3977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Alerts</a:t>
            </a:r>
            <a:endParaRPr lang="en-US" sz="1600" dirty="0"/>
          </a:p>
        </p:txBody>
      </p:sp>
      <p:sp>
        <p:nvSpPr>
          <p:cNvPr id="7" name="text-277"/>
          <p:cNvSpPr txBox="1"/>
          <p:nvPr/>
        </p:nvSpPr>
        <p:spPr>
          <a:xfrm>
            <a:off x="548640" y="43891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API down · 5xx &gt; 5% · p95 &gt; 500 ms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Database unreadable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Business: too many overdue loans</a:t>
            </a:r>
            <a:endParaRPr lang="en-US" sz="1350" dirty="0"/>
          </a:p>
        </p:txBody>
      </p:sp>
      <p:sp>
        <p:nvSpPr>
          <p:cNvPr id="8" name="text-278"/>
          <p:cNvSpPr txBox="1"/>
          <p:nvPr/>
        </p:nvSpPr>
        <p:spPr>
          <a:xfrm>
            <a:off x="548640" y="5852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6 / 6 API pods scraped and UP at peak load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2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learnings</a:t>
            </a:r>
            <a:endParaRPr lang="en-US" sz="3400" dirty="0"/>
          </a:p>
        </p:txBody>
      </p:sp>
      <p:sp>
        <p:nvSpPr>
          <p:cNvPr id="3" name="icon-bg-279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-28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548994"/>
            <a:ext cx="285293" cy="285293"/>
          </a:xfrm>
          <a:prstGeom prst="rect">
            <a:avLst/>
          </a:prstGeom>
        </p:spPr>
      </p:pic>
      <p:sp>
        <p:nvSpPr>
          <p:cNvPr id="5" name="text-281"/>
          <p:cNvSpPr txBox="1"/>
          <p:nvPr/>
        </p:nvSpPr>
        <p:spPr>
          <a:xfrm>
            <a:off x="1280160" y="13716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Correctness lives in the database</a:t>
            </a:r>
            <a:endParaRPr lang="en-US" sz="1700" dirty="0"/>
          </a:p>
        </p:txBody>
      </p:sp>
      <p:sp>
        <p:nvSpPr>
          <p:cNvPr id="6" name="text-282"/>
          <p:cNvSpPr txBox="1"/>
          <p:nvPr/>
        </p:nvSpPr>
        <p:spPr>
          <a:xfrm>
            <a:off x="1280160" y="1755648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Row locks in a fixed order, backed by constraints. Thread-based race tests lied; process-based ones proved it.</a:t>
            </a:r>
            <a:endParaRPr lang="en-US" sz="1350" dirty="0"/>
          </a:p>
        </p:txBody>
      </p:sp>
      <p:sp>
        <p:nvSpPr>
          <p:cNvPr id="7" name="icon-bg-283"/>
          <p:cNvSpPr/>
          <p:nvPr/>
        </p:nvSpPr>
        <p:spPr>
          <a:xfrm>
            <a:off x="617220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-28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874" y="1548994"/>
            <a:ext cx="285293" cy="285293"/>
          </a:xfrm>
          <a:prstGeom prst="rect">
            <a:avLst/>
          </a:prstGeom>
        </p:spPr>
      </p:pic>
      <p:sp>
        <p:nvSpPr>
          <p:cNvPr id="9" name="text-285"/>
          <p:cNvSpPr txBox="1"/>
          <p:nvPr/>
        </p:nvSpPr>
        <p:spPr>
          <a:xfrm>
            <a:off x="6903720" y="13716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Ship exactly what you scanned</a:t>
            </a:r>
            <a:endParaRPr lang="en-US" sz="1700" dirty="0"/>
          </a:p>
        </p:txBody>
      </p:sp>
      <p:sp>
        <p:nvSpPr>
          <p:cNvPr id="10" name="text-286"/>
          <p:cNvSpPr txBox="1"/>
          <p:nvPr/>
        </p:nvSpPr>
        <p:spPr>
          <a:xfrm>
            <a:off x="6903720" y="1755648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CI saves the scanned image as a tarball and pushes that, never a rebuild.</a:t>
            </a:r>
            <a:endParaRPr lang="en-US" sz="1350" dirty="0"/>
          </a:p>
        </p:txBody>
      </p:sp>
      <p:sp>
        <p:nvSpPr>
          <p:cNvPr id="11" name="icon-bg-287"/>
          <p:cNvSpPr/>
          <p:nvPr/>
        </p:nvSpPr>
        <p:spPr>
          <a:xfrm>
            <a:off x="548640" y="304495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28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3176626"/>
            <a:ext cx="285293" cy="285293"/>
          </a:xfrm>
          <a:prstGeom prst="rect">
            <a:avLst/>
          </a:prstGeom>
        </p:spPr>
      </p:pic>
      <p:sp>
        <p:nvSpPr>
          <p:cNvPr id="13" name="text-289"/>
          <p:cNvSpPr txBox="1"/>
          <p:nvPr/>
        </p:nvSpPr>
        <p:spPr>
          <a:xfrm>
            <a:off x="1280160" y="29992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Git is the deploy button</a:t>
            </a:r>
            <a:endParaRPr lang="en-US" sz="1700" dirty="0"/>
          </a:p>
        </p:txBody>
      </p:sp>
      <p:sp>
        <p:nvSpPr>
          <p:cNvPr id="14" name="text-290"/>
          <p:cNvSpPr txBox="1"/>
          <p:nvPr/>
        </p:nvSpPr>
        <p:spPr>
          <a:xfrm>
            <a:off x="1280160" y="33832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CI has no cluster credentials. A promotion commit is the release, and Argo CD does the rest.</a:t>
            </a:r>
            <a:endParaRPr lang="en-US" sz="1350" dirty="0"/>
          </a:p>
        </p:txBody>
      </p:sp>
      <p:sp>
        <p:nvSpPr>
          <p:cNvPr id="15" name="icon-bg-291"/>
          <p:cNvSpPr/>
          <p:nvPr/>
        </p:nvSpPr>
        <p:spPr>
          <a:xfrm>
            <a:off x="6172200" y="304495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29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874" y="3176626"/>
            <a:ext cx="285293" cy="285293"/>
          </a:xfrm>
          <a:prstGeom prst="rect">
            <a:avLst/>
          </a:prstGeom>
        </p:spPr>
      </p:pic>
      <p:sp>
        <p:nvSpPr>
          <p:cNvPr id="17" name="text-293"/>
          <p:cNvSpPr txBox="1"/>
          <p:nvPr/>
        </p:nvSpPr>
        <p:spPr>
          <a:xfrm>
            <a:off x="6903720" y="29992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Defaults hide problems</a:t>
            </a:r>
            <a:endParaRPr lang="en-US" sz="1700" dirty="0"/>
          </a:p>
        </p:txBody>
      </p:sp>
      <p:sp>
        <p:nvSpPr>
          <p:cNvPr id="18" name="text-294"/>
          <p:cNvSpPr txBox="1"/>
          <p:nvPr/>
        </p:nvSpPr>
        <p:spPr>
          <a:xfrm>
            <a:off x="6903720" y="33832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Prometheus ignores other releases' ServiceMonitors; latency buckets start at 100 ms; Trivy ignores misplaced options.</a:t>
            </a:r>
            <a:endParaRPr lang="en-US" sz="1350" dirty="0"/>
          </a:p>
        </p:txBody>
      </p:sp>
      <p:sp>
        <p:nvSpPr>
          <p:cNvPr id="19" name="icon-bg-295"/>
          <p:cNvSpPr/>
          <p:nvPr/>
        </p:nvSpPr>
        <p:spPr>
          <a:xfrm>
            <a:off x="548640" y="467258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29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4" y="4804258"/>
            <a:ext cx="285293" cy="285293"/>
          </a:xfrm>
          <a:prstGeom prst="rect">
            <a:avLst/>
          </a:prstGeom>
        </p:spPr>
      </p:pic>
      <p:sp>
        <p:nvSpPr>
          <p:cNvPr id="21" name="text-297"/>
          <p:cNvSpPr txBox="1"/>
          <p:nvPr/>
        </p:nvSpPr>
        <p:spPr>
          <a:xfrm>
            <a:off x="1280160" y="46268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Pin everything</a:t>
            </a:r>
            <a:endParaRPr lang="en-US" sz="1700" dirty="0"/>
          </a:p>
        </p:txBody>
      </p:sp>
      <p:sp>
        <p:nvSpPr>
          <p:cNvPr id="22" name="text-298"/>
          <p:cNvSpPr txBox="1"/>
          <p:nvPr/>
        </p:nvSpPr>
        <p:spPr>
          <a:xfrm>
            <a:off x="1280160" y="5010912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Actions by commit SHA after the 2026 Trivy-action tag hijack; base images by digest; charts by version.</a:t>
            </a:r>
            <a:endParaRPr lang="en-US" sz="1350" dirty="0"/>
          </a:p>
        </p:txBody>
      </p:sp>
      <p:sp>
        <p:nvSpPr>
          <p:cNvPr id="23" name="icon-bg-299"/>
          <p:cNvSpPr/>
          <p:nvPr/>
        </p:nvSpPr>
        <p:spPr>
          <a:xfrm>
            <a:off x="6172200" y="467258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-30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3874" y="4804258"/>
            <a:ext cx="285293" cy="285293"/>
          </a:xfrm>
          <a:prstGeom prst="rect">
            <a:avLst/>
          </a:prstGeom>
        </p:spPr>
      </p:pic>
      <p:sp>
        <p:nvSpPr>
          <p:cNvPr id="25" name="text-301"/>
          <p:cNvSpPr txBox="1"/>
          <p:nvPr/>
        </p:nvSpPr>
        <p:spPr>
          <a:xfrm>
            <a:off x="6903720" y="46268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Retired tools are a security risk</a:t>
            </a:r>
            <a:endParaRPr lang="en-US" sz="1700" dirty="0"/>
          </a:p>
        </p:txBody>
      </p:sp>
      <p:sp>
        <p:nvSpPr>
          <p:cNvPr id="26" name="text-302"/>
          <p:cNvSpPr txBox="1"/>
          <p:nvPr/>
        </p:nvSpPr>
        <p:spPr>
          <a:xfrm>
            <a:off x="6903720" y="5010912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ingress-nginx was archived in March 2026, so this cluster uses Traefik with standard Ingress objects.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2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Limitations and what I would do next</a:t>
            </a:r>
            <a:endParaRPr lang="en-US" sz="3400" dirty="0"/>
          </a:p>
        </p:txBody>
      </p:sp>
      <p:sp>
        <p:nvSpPr>
          <p:cNvPr id="3" name="card-303"/>
          <p:cNvSpPr/>
          <p:nvPr/>
        </p:nvSpPr>
        <p:spPr>
          <a:xfrm>
            <a:off x="548640" y="1371600"/>
            <a:ext cx="1106424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</p:spPr>
      </p:sp>
      <p:sp>
        <p:nvSpPr>
          <p:cNvPr id="4" name="text-304"/>
          <p:cNvSpPr txBox="1"/>
          <p:nvPr/>
        </p:nvSpPr>
        <p:spPr>
          <a:xfrm>
            <a:off x="777240" y="1371600"/>
            <a:ext cx="5394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PostgreSQL runs in the cluster</a:t>
            </a:r>
            <a:endParaRPr lang="en-US" sz="1400" dirty="0"/>
          </a:p>
        </p:txBody>
      </p:sp>
      <p:sp>
        <p:nvSpPr>
          <p:cNvPr id="5" name="text-305"/>
          <p:cNvSpPr txBox="1"/>
          <p:nvPr/>
        </p:nvSpPr>
        <p:spPr>
          <a:xfrm>
            <a:off x="6309360" y="1371600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Amazon RDS with backups</a:t>
            </a:r>
            <a:endParaRPr lang="en-US" sz="1350" dirty="0"/>
          </a:p>
        </p:txBody>
      </p:sp>
      <p:sp>
        <p:nvSpPr>
          <p:cNvPr id="6" name="card-306"/>
          <p:cNvSpPr/>
          <p:nvPr/>
        </p:nvSpPr>
        <p:spPr>
          <a:xfrm>
            <a:off x="548640" y="2176272"/>
            <a:ext cx="1106424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</p:spPr>
      </p:sp>
      <p:sp>
        <p:nvSpPr>
          <p:cNvPr id="7" name="text-307"/>
          <p:cNvSpPr txBox="1"/>
          <p:nvPr/>
        </p:nvSpPr>
        <p:spPr>
          <a:xfrm>
            <a:off x="777240" y="2176272"/>
            <a:ext cx="5394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One NAT gateway</a:t>
            </a:r>
            <a:endParaRPr lang="en-US" sz="1400" dirty="0"/>
          </a:p>
        </p:txBody>
      </p:sp>
      <p:sp>
        <p:nvSpPr>
          <p:cNvPr id="8" name="text-308"/>
          <p:cNvSpPr txBox="1"/>
          <p:nvPr/>
        </p:nvSpPr>
        <p:spPr>
          <a:xfrm>
            <a:off x="6309360" y="2176272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One per AZ</a:t>
            </a:r>
            <a:endParaRPr lang="en-US" sz="1350" dirty="0"/>
          </a:p>
        </p:txBody>
      </p:sp>
      <p:sp>
        <p:nvSpPr>
          <p:cNvPr id="9" name="card-309"/>
          <p:cNvSpPr/>
          <p:nvPr/>
        </p:nvSpPr>
        <p:spPr>
          <a:xfrm>
            <a:off x="548640" y="2980944"/>
            <a:ext cx="1106424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</p:spPr>
      </p:sp>
      <p:sp>
        <p:nvSpPr>
          <p:cNvPr id="10" name="text-310"/>
          <p:cNvSpPr txBox="1"/>
          <p:nvPr/>
        </p:nvSpPr>
        <p:spPr>
          <a:xfrm>
            <a:off x="777240" y="2980944"/>
            <a:ext cx="5394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login on the API</a:t>
            </a:r>
            <a:endParaRPr lang="en-US" sz="1400" dirty="0"/>
          </a:p>
        </p:txBody>
      </p:sp>
      <p:sp>
        <p:nvSpPr>
          <p:cNvPr id="11" name="text-311"/>
          <p:cNvSpPr txBox="1"/>
          <p:nvPr/>
        </p:nvSpPr>
        <p:spPr>
          <a:xfrm>
            <a:off x="6309360" y="2980944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OIDC</a:t>
            </a:r>
            <a:endParaRPr lang="en-US" sz="1350" dirty="0"/>
          </a:p>
        </p:txBody>
      </p:sp>
      <p:sp>
        <p:nvSpPr>
          <p:cNvPr id="12" name="card-312"/>
          <p:cNvSpPr/>
          <p:nvPr/>
        </p:nvSpPr>
        <p:spPr>
          <a:xfrm>
            <a:off x="548640" y="3785616"/>
            <a:ext cx="1106424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</p:spPr>
      </p:sp>
      <p:sp>
        <p:nvSpPr>
          <p:cNvPr id="13" name="text-313"/>
          <p:cNvSpPr txBox="1"/>
          <p:nvPr/>
        </p:nvSpPr>
        <p:spPr>
          <a:xfrm>
            <a:off x="777240" y="3785616"/>
            <a:ext cx="5394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Secrets via kubectl</a:t>
            </a:r>
            <a:endParaRPr lang="en-US" sz="1400" dirty="0"/>
          </a:p>
        </p:txBody>
      </p:sp>
      <p:sp>
        <p:nvSpPr>
          <p:cNvPr id="14" name="text-314"/>
          <p:cNvSpPr txBox="1"/>
          <p:nvPr/>
        </p:nvSpPr>
        <p:spPr>
          <a:xfrm>
            <a:off x="6309360" y="3785616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External Secrets</a:t>
            </a:r>
            <a:endParaRPr lang="en-US" sz="1350" dirty="0"/>
          </a:p>
        </p:txBody>
      </p:sp>
      <p:sp>
        <p:nvSpPr>
          <p:cNvPr id="15" name="card-315"/>
          <p:cNvSpPr/>
          <p:nvPr/>
        </p:nvSpPr>
        <p:spPr>
          <a:xfrm>
            <a:off x="548640" y="4590288"/>
            <a:ext cx="1106424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</p:spPr>
      </p:sp>
      <p:sp>
        <p:nvSpPr>
          <p:cNvPr id="16" name="text-316"/>
          <p:cNvSpPr txBox="1"/>
          <p:nvPr/>
        </p:nvSpPr>
        <p:spPr>
          <a:xfrm>
            <a:off x="777240" y="4590288"/>
            <a:ext cx="5394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Local TLS off</a:t>
            </a:r>
            <a:endParaRPr lang="en-US" sz="1400" dirty="0"/>
          </a:p>
        </p:txBody>
      </p:sp>
      <p:sp>
        <p:nvSpPr>
          <p:cNvPr id="17" name="text-317"/>
          <p:cNvSpPr txBox="1"/>
          <p:nvPr/>
        </p:nvSpPr>
        <p:spPr>
          <a:xfrm>
            <a:off x="6309360" y="4590288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cert-manager</a:t>
            </a:r>
            <a:endParaRPr lang="en-US" sz="1350" dirty="0"/>
          </a:p>
        </p:txBody>
      </p:sp>
      <p:sp>
        <p:nvSpPr>
          <p:cNvPr id="18" name="card-318"/>
          <p:cNvSpPr/>
          <p:nvPr/>
        </p:nvSpPr>
        <p:spPr>
          <a:xfrm>
            <a:off x="548640" y="5394960"/>
            <a:ext cx="1106424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</p:spPr>
      </p:sp>
      <p:sp>
        <p:nvSpPr>
          <p:cNvPr id="19" name="text-319"/>
          <p:cNvSpPr txBox="1"/>
          <p:nvPr/>
        </p:nvSpPr>
        <p:spPr>
          <a:xfrm>
            <a:off x="777240" y="5394960"/>
            <a:ext cx="5394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GitOps on kind</a:t>
            </a:r>
            <a:endParaRPr lang="en-US" sz="1400" dirty="0"/>
          </a:p>
        </p:txBody>
      </p:sp>
      <p:sp>
        <p:nvSpPr>
          <p:cNvPr id="20" name="text-320"/>
          <p:cNvSpPr txBox="1"/>
          <p:nvPr/>
        </p:nvSpPr>
        <p:spPr>
          <a:xfrm>
            <a:off x="6309360" y="5394960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Argo CD on EKS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2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Questions, and the live walkthrough in the demo video</a:t>
            </a:r>
            <a:endParaRPr lang="en-US" sz="2400" dirty="0"/>
          </a:p>
        </p:txBody>
      </p:sp>
      <p:sp>
        <p:nvSpPr>
          <p:cNvPr id="4" name="text-321"/>
          <p:cNvSpPr txBox="1"/>
          <p:nvPr/>
        </p:nvSpPr>
        <p:spPr>
          <a:xfrm>
            <a:off x="731520" y="39319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6D9D6"/>
                </a:solidFill>
              </a:rPr>
              <a:t>github.com/shubhamkumar9199/devops-heros/tree/main/session21-python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6D9D6"/>
                </a:solidFill>
              </a:rPr>
              <a:t>Green run: github.com/shubhamkumar9199/devops-heros/actions/runs/38908055488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elfWise">
  <a:themeElements>
    <a:clrScheme name="ShelfWise">
      <a:dk1>
        <a:srgbClr val="1B2427"/>
      </a:dk1>
      <a:lt1>
        <a:srgbClr val="FFFFFF"/>
      </a:lt1>
      <a:dk2>
        <a:srgbClr val="0F2B2D"/>
      </a:dk2>
      <a:lt2>
        <a:srgbClr val="EEF4F3"/>
      </a:lt2>
      <a:accent1>
        <a:srgbClr val="0F7680"/>
      </a:accent1>
      <a:accent2>
        <a:srgbClr val="E7B04B"/>
      </a:accent2>
      <a:accent3>
        <a:srgbClr val="AB2A1F"/>
      </a:accent3>
      <a:accent4>
        <a:srgbClr val="1C6F45"/>
      </a:accent4>
      <a:accent5>
        <a:srgbClr val="33549A"/>
      </a:accent5>
      <a:accent6>
        <a:srgbClr val="66726F"/>
      </a:accent6>
      <a:hlink>
        <a:srgbClr val="0F7680"/>
      </a:hlink>
      <a:folHlink>
        <a:srgbClr val="0B5F67"/>
      </a:folHlink>
    </a:clrScheme>
    <a:fontScheme name="ShelfWi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Scaler School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ShelfWise — DevOps capstone</dc:title>
  <dc:subject>Session 21 final capstone</dc:subject>
  <dc:creator>Shubham Kumar</dc:creator>
  <cp:lastModifiedBy>Shubham Kumar</cp:lastModifiedBy>
  <cp:revision>1</cp:revision>
  <dcterms:created xsi:type="dcterms:W3CDTF">2026-10-16T13:51:31Z</dcterms:created>
  <dcterms:modified xsi:type="dcterms:W3CDTF">2026-10-16T13:51:31Z</dcterms:modified>
</cp:coreProperties>
</file>